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0" r:id="rId1"/>
  </p:sldMasterIdLst>
  <p:notesMasterIdLst>
    <p:notesMasterId r:id="rId21"/>
  </p:notesMasterIdLst>
  <p:sldIdLst>
    <p:sldId id="256" r:id="rId2"/>
    <p:sldId id="263" r:id="rId3"/>
    <p:sldId id="264" r:id="rId4"/>
    <p:sldId id="273" r:id="rId5"/>
    <p:sldId id="265" r:id="rId6"/>
    <p:sldId id="272" r:id="rId7"/>
    <p:sldId id="266" r:id="rId8"/>
    <p:sldId id="269" r:id="rId9"/>
    <p:sldId id="267" r:id="rId10"/>
    <p:sldId id="274" r:id="rId11"/>
    <p:sldId id="275" r:id="rId12"/>
    <p:sldId id="277" r:id="rId13"/>
    <p:sldId id="276" r:id="rId14"/>
    <p:sldId id="268" r:id="rId15"/>
    <p:sldId id="278" r:id="rId16"/>
    <p:sldId id="279" r:id="rId17"/>
    <p:sldId id="280" r:id="rId18"/>
    <p:sldId id="270" r:id="rId19"/>
    <p:sldId id="26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B5CB41-DD99-4255-B2B0-B3B0EB8FE79F}" type="datetimeFigureOut">
              <a:rPr lang="en-IN" smtClean="0"/>
              <a:t>26-04-2025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98F7B4-3546-43B9-A4EA-563185DD933E}" type="slidenum">
              <a:rPr lang="en-IN" smtClean="0"/>
              <a:t>‹#›</a:t>
            </a:fld>
            <a:endParaRPr lang="en-IN"/>
          </a:p>
        </p:txBody>
      </p:sp>
    </p:spTree>
    <p:extLst>
      <p:ext uri="{BB962C8B-B14F-4D97-AF65-F5344CB8AC3E}">
        <p14:creationId xmlns:p14="http://schemas.microsoft.com/office/powerpoint/2010/main" val="268089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98F7B4-3546-43B9-A4EA-563185DD933E}" type="slidenum">
              <a:rPr lang="en-IN" smtClean="0"/>
              <a:t>4</a:t>
            </a:fld>
            <a:endParaRPr lang="en-IN"/>
          </a:p>
        </p:txBody>
      </p:sp>
    </p:spTree>
    <p:extLst>
      <p:ext uri="{BB962C8B-B14F-4D97-AF65-F5344CB8AC3E}">
        <p14:creationId xmlns:p14="http://schemas.microsoft.com/office/powerpoint/2010/main" val="13518561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98F7B4-3546-43B9-A4EA-563185DD933E}" type="slidenum">
              <a:rPr lang="en-IN" smtClean="0"/>
              <a:t>11</a:t>
            </a:fld>
            <a:endParaRPr lang="en-IN"/>
          </a:p>
        </p:txBody>
      </p:sp>
    </p:spTree>
    <p:extLst>
      <p:ext uri="{BB962C8B-B14F-4D97-AF65-F5344CB8AC3E}">
        <p14:creationId xmlns:p14="http://schemas.microsoft.com/office/powerpoint/2010/main" val="3493615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F3F54F-FCBF-4A69-9342-353902D6E375}"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17741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F3F54F-FCBF-4A69-9342-353902D6E375}"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875283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F3F54F-FCBF-4A69-9342-353902D6E375}"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2099049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F3F54F-FCBF-4A69-9342-353902D6E375}" type="datetimeFigureOut">
              <a:rPr lang="en-IN" smtClean="0"/>
              <a:t>26-04-2025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2704703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F3F54F-FCBF-4A69-9342-353902D6E375}" type="datetimeFigureOut">
              <a:rPr lang="en-IN" smtClean="0"/>
              <a:t>26-04-2025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1766298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F3F54F-FCBF-4A69-9342-353902D6E375}" type="datetimeFigureOut">
              <a:rPr lang="en-IN" smtClean="0"/>
              <a:t>26-04-2025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3490437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F3F54F-FCBF-4A69-9342-353902D6E375}" type="datetimeFigureOut">
              <a:rPr lang="en-IN" smtClean="0"/>
              <a:t>26-04-2025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1401827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F3F54F-FCBF-4A69-9342-353902D6E375}" type="datetimeFigureOut">
              <a:rPr lang="en-IN" smtClean="0"/>
              <a:t>26-04-2025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3589937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A532EF-68DE-4F55-93CF-62427C2ADEDD}" type="slidenum">
              <a:rPr lang="en-IN" smtClean="0"/>
              <a:t>‹#›</a:t>
            </a:fld>
            <a:endParaRPr lang="en-IN"/>
          </a:p>
        </p:txBody>
      </p:sp>
      <p:sp>
        <p:nvSpPr>
          <p:cNvPr id="5" name="Date Placeholder 4"/>
          <p:cNvSpPr>
            <a:spLocks noGrp="1"/>
          </p:cNvSpPr>
          <p:nvPr>
            <p:ph type="dt" sz="half" idx="10"/>
          </p:nvPr>
        </p:nvSpPr>
        <p:spPr/>
        <p:txBody>
          <a:bodyPr/>
          <a:lstStyle/>
          <a:p>
            <a:fld id="{B8F3F54F-FCBF-4A69-9342-353902D6E375}" type="datetimeFigureOut">
              <a:rPr lang="en-IN" smtClean="0"/>
              <a:t>26-04-2025</a:t>
            </a:fld>
            <a:endParaRPr lang="en-IN"/>
          </a:p>
        </p:txBody>
      </p:sp>
    </p:spTree>
    <p:extLst>
      <p:ext uri="{BB962C8B-B14F-4D97-AF65-F5344CB8AC3E}">
        <p14:creationId xmlns:p14="http://schemas.microsoft.com/office/powerpoint/2010/main" val="1122652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F3F54F-FCBF-4A69-9342-353902D6E375}"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1279097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F3F54F-FCBF-4A69-9342-353902D6E375}"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101215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F3F54F-FCBF-4A69-9342-353902D6E375}"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19370462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F3F54F-FCBF-4A69-9342-353902D6E375}"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74380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F3F54F-FCBF-4A69-9342-353902D6E375}"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42688303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F3F54F-FCBF-4A69-9342-353902D6E375}"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242761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F3F54F-FCBF-4A69-9342-353902D6E375}"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A532EF-68DE-4F55-93CF-62427C2ADEDD}" type="slidenum">
              <a:rPr lang="en-IN" smtClean="0"/>
              <a:t>‹#›</a:t>
            </a:fld>
            <a:endParaRPr lang="en-IN"/>
          </a:p>
        </p:txBody>
      </p:sp>
    </p:spTree>
    <p:extLst>
      <p:ext uri="{BB962C8B-B14F-4D97-AF65-F5344CB8AC3E}">
        <p14:creationId xmlns:p14="http://schemas.microsoft.com/office/powerpoint/2010/main" val="800576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8F3F54F-FCBF-4A69-9342-353902D6E375}" type="datetimeFigureOut">
              <a:rPr lang="en-IN" smtClean="0"/>
              <a:t>26-04-2025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4A532EF-68DE-4F55-93CF-62427C2ADEDD}" type="slidenum">
              <a:rPr lang="en-IN" smtClean="0"/>
              <a:t>‹#›</a:t>
            </a:fld>
            <a:endParaRPr lang="en-IN"/>
          </a:p>
        </p:txBody>
      </p:sp>
    </p:spTree>
    <p:extLst>
      <p:ext uri="{BB962C8B-B14F-4D97-AF65-F5344CB8AC3E}">
        <p14:creationId xmlns:p14="http://schemas.microsoft.com/office/powerpoint/2010/main" val="2560222714"/>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6D5F31-72A6-66C7-0671-C33CF934013B}"/>
              </a:ext>
            </a:extLst>
          </p:cNvPr>
          <p:cNvSpPr txBox="1"/>
          <p:nvPr/>
        </p:nvSpPr>
        <p:spPr>
          <a:xfrm>
            <a:off x="801328" y="4664560"/>
            <a:ext cx="3908324" cy="523220"/>
          </a:xfrm>
          <a:prstGeom prst="rect">
            <a:avLst/>
          </a:prstGeom>
          <a:noFill/>
        </p:spPr>
        <p:txBody>
          <a:bodyPr wrap="square" rtlCol="0">
            <a:spAutoFit/>
          </a:bodyPr>
          <a:lstStyle/>
          <a:p>
            <a:r>
              <a:rPr lang="en-US" sz="2800" dirty="0"/>
              <a:t>P</a:t>
            </a:r>
            <a:r>
              <a:rPr lang="en-IN" sz="2800" dirty="0" err="1"/>
              <a:t>rathamesh</a:t>
            </a:r>
            <a:r>
              <a:rPr lang="en-IN" sz="2800" dirty="0"/>
              <a:t> </a:t>
            </a:r>
            <a:r>
              <a:rPr lang="en-IN" sz="2800" dirty="0" err="1"/>
              <a:t>Devarkar</a:t>
            </a:r>
            <a:endParaRPr lang="en-IN" sz="2800" dirty="0"/>
          </a:p>
        </p:txBody>
      </p:sp>
      <p:sp>
        <p:nvSpPr>
          <p:cNvPr id="3" name="TextBox 2">
            <a:extLst>
              <a:ext uri="{FF2B5EF4-FFF2-40B4-BE49-F238E27FC236}">
                <a16:creationId xmlns:a16="http://schemas.microsoft.com/office/drawing/2014/main" id="{45A2B324-B8EC-1018-CDCA-61068344BB39}"/>
              </a:ext>
            </a:extLst>
          </p:cNvPr>
          <p:cNvSpPr txBox="1"/>
          <p:nvPr/>
        </p:nvSpPr>
        <p:spPr>
          <a:xfrm>
            <a:off x="826843" y="3664906"/>
            <a:ext cx="3042002" cy="523220"/>
          </a:xfrm>
          <a:prstGeom prst="rect">
            <a:avLst/>
          </a:prstGeom>
          <a:noFill/>
        </p:spPr>
        <p:txBody>
          <a:bodyPr wrap="square" rtlCol="0">
            <a:spAutoFit/>
          </a:bodyPr>
          <a:lstStyle/>
          <a:p>
            <a:r>
              <a:rPr lang="en-US" sz="2800" dirty="0"/>
              <a:t>Adarsh </a:t>
            </a:r>
            <a:r>
              <a:rPr lang="en-US" sz="2800" dirty="0" err="1"/>
              <a:t>Kokane</a:t>
            </a:r>
            <a:endParaRPr lang="en-IN" sz="2800" dirty="0"/>
          </a:p>
        </p:txBody>
      </p:sp>
      <p:sp>
        <p:nvSpPr>
          <p:cNvPr id="4" name="TextBox 3">
            <a:extLst>
              <a:ext uri="{FF2B5EF4-FFF2-40B4-BE49-F238E27FC236}">
                <a16:creationId xmlns:a16="http://schemas.microsoft.com/office/drawing/2014/main" id="{CB50CC1D-397E-EDD0-4E3A-F5A56FF05265}"/>
              </a:ext>
            </a:extLst>
          </p:cNvPr>
          <p:cNvSpPr txBox="1"/>
          <p:nvPr/>
        </p:nvSpPr>
        <p:spPr>
          <a:xfrm>
            <a:off x="791531" y="4141340"/>
            <a:ext cx="2149948" cy="523220"/>
          </a:xfrm>
          <a:prstGeom prst="rect">
            <a:avLst/>
          </a:prstGeom>
          <a:noFill/>
        </p:spPr>
        <p:txBody>
          <a:bodyPr wrap="none" rtlCol="0">
            <a:spAutoFit/>
          </a:bodyPr>
          <a:lstStyle/>
          <a:p>
            <a:r>
              <a:rPr lang="en-US" sz="2800" dirty="0"/>
              <a:t>A</a:t>
            </a:r>
            <a:r>
              <a:rPr lang="en-IN" sz="2800" dirty="0" err="1"/>
              <a:t>ditya</a:t>
            </a:r>
            <a:r>
              <a:rPr lang="en-IN" sz="2800" dirty="0"/>
              <a:t> Mane</a:t>
            </a:r>
          </a:p>
        </p:txBody>
      </p:sp>
      <p:sp>
        <p:nvSpPr>
          <p:cNvPr id="7" name="TextBox 6">
            <a:extLst>
              <a:ext uri="{FF2B5EF4-FFF2-40B4-BE49-F238E27FC236}">
                <a16:creationId xmlns:a16="http://schemas.microsoft.com/office/drawing/2014/main" id="{3AA75C67-CE73-10A6-AF78-A36F1B11F5C1}"/>
              </a:ext>
            </a:extLst>
          </p:cNvPr>
          <p:cNvSpPr txBox="1"/>
          <p:nvPr/>
        </p:nvSpPr>
        <p:spPr>
          <a:xfrm>
            <a:off x="800790" y="5191400"/>
            <a:ext cx="2213780" cy="523220"/>
          </a:xfrm>
          <a:prstGeom prst="rect">
            <a:avLst/>
          </a:prstGeom>
          <a:noFill/>
        </p:spPr>
        <p:txBody>
          <a:bodyPr wrap="square" rtlCol="0">
            <a:spAutoFit/>
          </a:bodyPr>
          <a:lstStyle/>
          <a:p>
            <a:r>
              <a:rPr lang="en-US" sz="2800" dirty="0"/>
              <a:t>Soham More</a:t>
            </a:r>
            <a:endParaRPr lang="en-IN" sz="2800" dirty="0"/>
          </a:p>
        </p:txBody>
      </p:sp>
      <p:sp>
        <p:nvSpPr>
          <p:cNvPr id="6" name="TextBox 5">
            <a:extLst>
              <a:ext uri="{FF2B5EF4-FFF2-40B4-BE49-F238E27FC236}">
                <a16:creationId xmlns:a16="http://schemas.microsoft.com/office/drawing/2014/main" id="{C52E3778-4DDB-91CC-2EE5-2DC0472D424F}"/>
              </a:ext>
            </a:extLst>
          </p:cNvPr>
          <p:cNvSpPr txBox="1"/>
          <p:nvPr/>
        </p:nvSpPr>
        <p:spPr>
          <a:xfrm>
            <a:off x="2800350" y="609600"/>
            <a:ext cx="6772275" cy="1569660"/>
          </a:xfrm>
          <a:prstGeom prst="rect">
            <a:avLst/>
          </a:prstGeom>
          <a:noFill/>
        </p:spPr>
        <p:txBody>
          <a:bodyPr wrap="square" rtlCol="0">
            <a:spAutoFit/>
          </a:bodyPr>
          <a:lstStyle/>
          <a:p>
            <a:r>
              <a:rPr lang="en-IN" sz="3200" b="1" i="0" dirty="0">
                <a:solidFill>
                  <a:srgbClr val="333333"/>
                </a:solidFill>
                <a:effectLst/>
                <a:latin typeface="Open Sans" panose="020F0502020204030204" pitchFamily="34" charset="0"/>
              </a:rPr>
              <a:t>K.L.E Society’s</a:t>
            </a:r>
          </a:p>
          <a:p>
            <a:r>
              <a:rPr lang="en-IN" sz="3200" b="1" i="0" dirty="0">
                <a:solidFill>
                  <a:srgbClr val="333333"/>
                </a:solidFill>
                <a:effectLst/>
                <a:latin typeface="Open Sans" panose="020F0502020204030204" pitchFamily="34" charset="0"/>
              </a:rPr>
              <a:t>C. B. Kore Polytechnic, Chikodi.</a:t>
            </a:r>
          </a:p>
          <a:p>
            <a:endParaRPr lang="en-IN" sz="3200" dirty="0"/>
          </a:p>
        </p:txBody>
      </p:sp>
      <p:pic>
        <p:nvPicPr>
          <p:cNvPr id="1026" name="Picture 2" descr="C B Polytechnic Chikodi - Diploma Colle - KLE Society ...">
            <a:extLst>
              <a:ext uri="{FF2B5EF4-FFF2-40B4-BE49-F238E27FC236}">
                <a16:creationId xmlns:a16="http://schemas.microsoft.com/office/drawing/2014/main" id="{323470BB-CC49-22A9-F4AC-DE00109CB8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3514" y="257555"/>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rofile for C.B.Kore Polytechnic College, Chikodi">
            <a:extLst>
              <a:ext uri="{FF2B5EF4-FFF2-40B4-BE49-F238E27FC236}">
                <a16:creationId xmlns:a16="http://schemas.microsoft.com/office/drawing/2014/main" id="{EF1B998B-1C2E-4972-9B53-E814383782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36123" y="75271"/>
            <a:ext cx="1905001" cy="191350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87B17A2-5B20-BDBA-8146-35D1C2E3FF87}"/>
              </a:ext>
            </a:extLst>
          </p:cNvPr>
          <p:cNvSpPr txBox="1"/>
          <p:nvPr/>
        </p:nvSpPr>
        <p:spPr>
          <a:xfrm>
            <a:off x="8662221" y="3542938"/>
            <a:ext cx="3042002" cy="2243243"/>
          </a:xfrm>
          <a:prstGeom prst="rect">
            <a:avLst/>
          </a:prstGeom>
          <a:noFill/>
        </p:spPr>
        <p:txBody>
          <a:bodyPr wrap="square" rtlCol="0">
            <a:spAutoFit/>
          </a:bodyPr>
          <a:lstStyle/>
          <a:p>
            <a:pPr>
              <a:lnSpc>
                <a:spcPct val="150000"/>
              </a:lnSpc>
            </a:pPr>
            <a:r>
              <a:rPr lang="en-IN" sz="2400" b="1" dirty="0"/>
              <a:t>339CS22002</a:t>
            </a:r>
          </a:p>
          <a:p>
            <a:pPr>
              <a:lnSpc>
                <a:spcPct val="150000"/>
              </a:lnSpc>
            </a:pPr>
            <a:r>
              <a:rPr lang="en-IN" sz="2400" b="1" dirty="0"/>
              <a:t>339CS22005</a:t>
            </a:r>
          </a:p>
          <a:p>
            <a:pPr>
              <a:lnSpc>
                <a:spcPct val="150000"/>
              </a:lnSpc>
            </a:pPr>
            <a:r>
              <a:rPr lang="en-IN" sz="2400" b="1" dirty="0"/>
              <a:t>339CS22001</a:t>
            </a:r>
          </a:p>
          <a:p>
            <a:pPr>
              <a:lnSpc>
                <a:spcPct val="150000"/>
              </a:lnSpc>
            </a:pPr>
            <a:r>
              <a:rPr lang="en-IN" sz="2400" b="1" dirty="0"/>
              <a:t>339CS23705</a:t>
            </a:r>
          </a:p>
        </p:txBody>
      </p:sp>
    </p:spTree>
    <p:extLst>
      <p:ext uri="{BB962C8B-B14F-4D97-AF65-F5344CB8AC3E}">
        <p14:creationId xmlns:p14="http://schemas.microsoft.com/office/powerpoint/2010/main" val="1514926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AE3B8-7902-F7D3-355C-64B1694EC6E2}"/>
              </a:ext>
            </a:extLst>
          </p:cNvPr>
          <p:cNvSpPr>
            <a:spLocks noGrp="1"/>
          </p:cNvSpPr>
          <p:nvPr>
            <p:ph type="title"/>
          </p:nvPr>
        </p:nvSpPr>
        <p:spPr>
          <a:xfrm>
            <a:off x="545840" y="707922"/>
            <a:ext cx="3377682" cy="786067"/>
          </a:xfrm>
        </p:spPr>
        <p:txBody>
          <a:bodyPr>
            <a:normAutofit/>
          </a:bodyPr>
          <a:lstStyle/>
          <a:p>
            <a:r>
              <a:rPr lang="en-IN" sz="4400" dirty="0"/>
              <a:t>Contents</a:t>
            </a:r>
          </a:p>
        </p:txBody>
      </p:sp>
      <p:sp>
        <p:nvSpPr>
          <p:cNvPr id="3" name="TextBox 2">
            <a:extLst>
              <a:ext uri="{FF2B5EF4-FFF2-40B4-BE49-F238E27FC236}">
                <a16:creationId xmlns:a16="http://schemas.microsoft.com/office/drawing/2014/main" id="{A63AF26C-3ECD-9692-BD7D-E629F8F8CFCC}"/>
              </a:ext>
            </a:extLst>
          </p:cNvPr>
          <p:cNvSpPr txBox="1"/>
          <p:nvPr/>
        </p:nvSpPr>
        <p:spPr>
          <a:xfrm>
            <a:off x="1082351" y="1903446"/>
            <a:ext cx="5682342" cy="493981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t>INTRODUCTION</a:t>
            </a:r>
          </a:p>
          <a:p>
            <a:pPr marL="285750" indent="-285750">
              <a:lnSpc>
                <a:spcPct val="150000"/>
              </a:lnSpc>
              <a:buFont typeface="Arial" panose="020B0604020202020204" pitchFamily="34" charset="0"/>
              <a:buChar char="•"/>
            </a:pPr>
            <a:r>
              <a:rPr lang="en-IN" dirty="0"/>
              <a:t>OBJECTIVES </a:t>
            </a:r>
          </a:p>
          <a:p>
            <a:pPr marL="285750" indent="-285750">
              <a:lnSpc>
                <a:spcPct val="150000"/>
              </a:lnSpc>
              <a:buFont typeface="Arial" panose="020B0604020202020204" pitchFamily="34" charset="0"/>
              <a:buChar char="•"/>
            </a:pPr>
            <a:r>
              <a:rPr lang="en-IN" sz="1800" dirty="0"/>
              <a:t>HARDWARE AND SOFTWARE REQUIREMENTS </a:t>
            </a:r>
            <a:endParaRPr lang="en-IN" dirty="0"/>
          </a:p>
          <a:p>
            <a:pPr marL="285750" indent="-285750">
              <a:lnSpc>
                <a:spcPct val="150000"/>
              </a:lnSpc>
              <a:buFont typeface="Arial" panose="020B0604020202020204" pitchFamily="34" charset="0"/>
              <a:buChar char="•"/>
            </a:pPr>
            <a:r>
              <a:rPr lang="en-IN" dirty="0"/>
              <a:t>TECHNOLOGIES AND LANGUAGES </a:t>
            </a:r>
          </a:p>
          <a:p>
            <a:pPr marL="285750" indent="-285750">
              <a:lnSpc>
                <a:spcPct val="150000"/>
              </a:lnSpc>
              <a:buFont typeface="Arial" panose="020B0604020202020204" pitchFamily="34" charset="0"/>
              <a:buChar char="•"/>
            </a:pPr>
            <a:r>
              <a:rPr lang="en-IN" dirty="0"/>
              <a:t>DATA FLOW DIAGRAM  </a:t>
            </a:r>
          </a:p>
          <a:p>
            <a:pPr marL="285750" indent="-285750">
              <a:lnSpc>
                <a:spcPct val="150000"/>
              </a:lnSpc>
              <a:buFont typeface="Arial" panose="020B0604020202020204" pitchFamily="34" charset="0"/>
              <a:buChar char="•"/>
            </a:pPr>
            <a:r>
              <a:rPr lang="en-IN" dirty="0"/>
              <a:t>ERD DIAGRAM</a:t>
            </a:r>
          </a:p>
          <a:p>
            <a:pPr marL="285750" indent="-285750">
              <a:lnSpc>
                <a:spcPct val="150000"/>
              </a:lnSpc>
              <a:buFont typeface="Arial" panose="020B0604020202020204" pitchFamily="34" charset="0"/>
              <a:buChar char="•"/>
            </a:pPr>
            <a:r>
              <a:rPr lang="en-IN" dirty="0"/>
              <a:t>BENEFITS</a:t>
            </a:r>
          </a:p>
          <a:p>
            <a:pPr marL="285750" indent="-285750">
              <a:lnSpc>
                <a:spcPct val="150000"/>
              </a:lnSpc>
              <a:buFont typeface="Arial" panose="020B0604020202020204" pitchFamily="34" charset="0"/>
              <a:buChar char="•"/>
            </a:pPr>
            <a:r>
              <a:rPr lang="en-IN" dirty="0"/>
              <a:t>SCREENSHOTS OF PROJECT</a:t>
            </a:r>
          </a:p>
          <a:p>
            <a:pPr marL="285750" indent="-285750">
              <a:lnSpc>
                <a:spcPct val="150000"/>
              </a:lnSpc>
              <a:buFont typeface="Arial" panose="020B0604020202020204" pitchFamily="34" charset="0"/>
              <a:buChar char="•"/>
            </a:pPr>
            <a:r>
              <a:rPr lang="en-IN" dirty="0"/>
              <a:t>FUTURESCOPE</a:t>
            </a:r>
          </a:p>
          <a:p>
            <a:pPr marL="285750" indent="-285750">
              <a:lnSpc>
                <a:spcPct val="150000"/>
              </a:lnSpc>
              <a:buFont typeface="Arial" panose="020B0604020202020204" pitchFamily="34" charset="0"/>
              <a:buChar char="•"/>
            </a:pPr>
            <a:r>
              <a:rPr lang="en-IN" dirty="0"/>
              <a:t>USE-CASES</a:t>
            </a:r>
          </a:p>
          <a:p>
            <a:pPr marL="285750" indent="-285750">
              <a:lnSpc>
                <a:spcPct val="150000"/>
              </a:lnSpc>
              <a:buFont typeface="Arial" panose="020B0604020202020204" pitchFamily="34" charset="0"/>
              <a:buChar char="•"/>
            </a:pPr>
            <a:r>
              <a:rPr lang="en-IN" dirty="0"/>
              <a:t>CONCLUSION </a:t>
            </a:r>
          </a:p>
          <a:p>
            <a:endParaRPr lang="en-IN" dirty="0">
              <a:solidFill>
                <a:schemeClr val="accent5"/>
              </a:solidFill>
            </a:endParaRPr>
          </a:p>
        </p:txBody>
      </p:sp>
    </p:spTree>
    <p:extLst>
      <p:ext uri="{BB962C8B-B14F-4D97-AF65-F5344CB8AC3E}">
        <p14:creationId xmlns:p14="http://schemas.microsoft.com/office/powerpoint/2010/main" val="795551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CC253-CA29-C0C3-137C-B964ADCD54E5}"/>
              </a:ext>
            </a:extLst>
          </p:cNvPr>
          <p:cNvSpPr>
            <a:spLocks noGrp="1"/>
          </p:cNvSpPr>
          <p:nvPr>
            <p:ph type="title"/>
          </p:nvPr>
        </p:nvSpPr>
        <p:spPr>
          <a:xfrm>
            <a:off x="681163" y="681567"/>
            <a:ext cx="8596668" cy="1320800"/>
          </a:xfrm>
        </p:spPr>
        <p:txBody>
          <a:bodyPr vert="horz" lIns="91440" tIns="45720" rIns="91440" bIns="45720" rtlCol="0" anchor="t">
            <a:normAutofit/>
          </a:bodyPr>
          <a:lstStyle/>
          <a:p>
            <a:r>
              <a:rPr lang="en-US" dirty="0"/>
              <a:t>INTRODUCTION </a:t>
            </a:r>
          </a:p>
        </p:txBody>
      </p:sp>
      <p:sp>
        <p:nvSpPr>
          <p:cNvPr id="11" name="TextBox 10">
            <a:extLst>
              <a:ext uri="{FF2B5EF4-FFF2-40B4-BE49-F238E27FC236}">
                <a16:creationId xmlns:a16="http://schemas.microsoft.com/office/drawing/2014/main" id="{B6DE6986-9119-5623-773C-35D9F640CDD8}"/>
              </a:ext>
            </a:extLst>
          </p:cNvPr>
          <p:cNvSpPr txBox="1"/>
          <p:nvPr/>
        </p:nvSpPr>
        <p:spPr>
          <a:xfrm>
            <a:off x="1068443" y="1889706"/>
            <a:ext cx="8470898" cy="3429260"/>
          </a:xfrm>
          <a:prstGeom prst="rect">
            <a:avLst/>
          </a:prstGeom>
        </p:spPr>
        <p:txBody>
          <a:bodyPr vert="horz" lIns="91440" tIns="45720" rIns="91440" bIns="45720" rtlCol="0">
            <a:normAutofit/>
          </a:bodyPr>
          <a:lstStyle/>
          <a:p>
            <a:pPr>
              <a:spcBef>
                <a:spcPts val="1000"/>
              </a:spcBef>
              <a:buClr>
                <a:schemeClr val="accent1"/>
              </a:buClr>
              <a:buSzPct val="80000"/>
            </a:pPr>
            <a:r>
              <a:rPr lang="en-US"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A Job Portal is an online platform that connects job seekers with recruiters. It serves as a bridge between candidates looking for employment and employers searching for the right talent. The system provides an easy-to-use interface where candidates can sign up, create profiles, search for jobs, apply by uploading resumes, and filter jobs based on location and company. On the other hand, recruiters can register, post job vacancies, manage company profiles, and view applications from candidates.</a:t>
            </a:r>
          </a:p>
        </p:txBody>
      </p:sp>
    </p:spTree>
    <p:extLst>
      <p:ext uri="{BB962C8B-B14F-4D97-AF65-F5344CB8AC3E}">
        <p14:creationId xmlns:p14="http://schemas.microsoft.com/office/powerpoint/2010/main" val="1632606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010FA-6AEE-3DA6-6866-C33759E74DFC}"/>
              </a:ext>
            </a:extLst>
          </p:cNvPr>
          <p:cNvSpPr>
            <a:spLocks noGrp="1"/>
          </p:cNvSpPr>
          <p:nvPr>
            <p:ph type="title"/>
          </p:nvPr>
        </p:nvSpPr>
        <p:spPr/>
        <p:txBody>
          <a:bodyPr>
            <a:normAutofit/>
          </a:bodyPr>
          <a:lstStyle/>
          <a:p>
            <a:r>
              <a:rPr lang="en-IN" dirty="0">
                <a:solidFill>
                  <a:schemeClr val="accent1"/>
                </a:solidFill>
              </a:rPr>
              <a:t>OBJECTIVES</a:t>
            </a:r>
            <a:endParaRPr lang="en-IN" sz="4400" dirty="0">
              <a:solidFill>
                <a:schemeClr val="accent3">
                  <a:lumMod val="75000"/>
                </a:schemeClr>
              </a:solidFill>
            </a:endParaRPr>
          </a:p>
        </p:txBody>
      </p:sp>
      <p:sp>
        <p:nvSpPr>
          <p:cNvPr id="6" name="Rectangle 2">
            <a:extLst>
              <a:ext uri="{FF2B5EF4-FFF2-40B4-BE49-F238E27FC236}">
                <a16:creationId xmlns:a16="http://schemas.microsoft.com/office/drawing/2014/main" id="{76F12E7D-77D5-4062-3F00-73D3673A980A}"/>
              </a:ext>
            </a:extLst>
          </p:cNvPr>
          <p:cNvSpPr>
            <a:spLocks noChangeArrowheads="1"/>
          </p:cNvSpPr>
          <p:nvPr/>
        </p:nvSpPr>
        <p:spPr bwMode="auto">
          <a:xfrm>
            <a:off x="855407" y="1609576"/>
            <a:ext cx="9146335" cy="2539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FontTx/>
              <a:buChar char="•"/>
            </a:pPr>
            <a:r>
              <a:rPr lang="en-US" dirty="0">
                <a:latin typeface="Calibri" panose="020F0502020204030204" pitchFamily="34" charset="0"/>
                <a:ea typeface="Calibri" panose="020F0502020204030204" pitchFamily="34" charset="0"/>
                <a:cs typeface="Calibri" panose="020F0502020204030204" pitchFamily="34" charset="0"/>
              </a:rPr>
              <a:t>Provide a User-Friendly Job Search Platform.</a:t>
            </a:r>
          </a:p>
          <a:p>
            <a:pPr defTabSz="914400" eaLnBrk="0" fontAlgn="base" hangingPunct="0">
              <a:lnSpc>
                <a:spcPct val="150000"/>
              </a:lnSpc>
              <a:spcBef>
                <a:spcPct val="0"/>
              </a:spcBef>
              <a:spcAft>
                <a:spcPct val="0"/>
              </a:spcAft>
              <a:buFontTx/>
              <a:buChar char="•"/>
            </a:pPr>
            <a:r>
              <a:rPr lang="en-US" dirty="0">
                <a:latin typeface="Calibri" panose="020F0502020204030204" pitchFamily="34" charset="0"/>
                <a:ea typeface="Calibri" panose="020F0502020204030204" pitchFamily="34" charset="0"/>
                <a:cs typeface="Calibri" panose="020F0502020204030204" pitchFamily="34" charset="0"/>
              </a:rPr>
              <a:t>Simplify the Job Application Process.</a:t>
            </a:r>
          </a:p>
          <a:p>
            <a:pPr defTabSz="914400" eaLnBrk="0" fontAlgn="base" hangingPunct="0">
              <a:lnSpc>
                <a:spcPct val="150000"/>
              </a:lnSpc>
              <a:spcBef>
                <a:spcPct val="0"/>
              </a:spcBef>
              <a:spcAft>
                <a:spcPct val="0"/>
              </a:spcAft>
              <a:buFontTx/>
              <a:buChar char="•"/>
            </a:pPr>
            <a:r>
              <a:rPr lang="en-US" dirty="0">
                <a:latin typeface="Calibri" panose="020F0502020204030204" pitchFamily="34" charset="0"/>
                <a:ea typeface="Calibri" panose="020F0502020204030204" pitchFamily="34" charset="0"/>
                <a:cs typeface="Calibri" panose="020F0502020204030204" pitchFamily="34" charset="0"/>
              </a:rPr>
              <a:t>Enable Recruiters to Post and Manage Jobs</a:t>
            </a:r>
          </a:p>
          <a:p>
            <a:pPr defTabSz="914400" eaLnBrk="0" fontAlgn="base" hangingPunct="0">
              <a:lnSpc>
                <a:spcPct val="150000"/>
              </a:lnSpc>
              <a:spcBef>
                <a:spcPct val="0"/>
              </a:spcBef>
              <a:spcAft>
                <a:spcPct val="0"/>
              </a:spcAft>
              <a:buFontTx/>
              <a:buChar char="•"/>
            </a:pPr>
            <a:r>
              <a:rPr lang="en-US" dirty="0">
                <a:latin typeface="Calibri" panose="020F0502020204030204" pitchFamily="34" charset="0"/>
                <a:ea typeface="Calibri" panose="020F0502020204030204" pitchFamily="34" charset="0"/>
                <a:cs typeface="Calibri" panose="020F0502020204030204" pitchFamily="34" charset="0"/>
              </a:rPr>
              <a:t>Allow Candidates to Save and Bookmark Jobs</a:t>
            </a:r>
          </a:p>
          <a:p>
            <a:pPr defTabSz="914400" eaLnBrk="0" fontAlgn="base" hangingPunct="0">
              <a:lnSpc>
                <a:spcPct val="150000"/>
              </a:lnSpc>
              <a:spcBef>
                <a:spcPct val="0"/>
              </a:spcBef>
              <a:spcAft>
                <a:spcPct val="0"/>
              </a:spcAft>
              <a:buFontTx/>
              <a:buChar char="•"/>
            </a:pPr>
            <a:r>
              <a:rPr lang="en-US" dirty="0">
                <a:latin typeface="Calibri" panose="020F0502020204030204" pitchFamily="34" charset="0"/>
                <a:ea typeface="Calibri" panose="020F0502020204030204" pitchFamily="34" charset="0"/>
                <a:cs typeface="Calibri" panose="020F0502020204030204" pitchFamily="34" charset="0"/>
              </a:rPr>
              <a:t>Improve the Job Matching System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93148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B9276-9B1C-B251-24F5-14F93D136572}"/>
              </a:ext>
            </a:extLst>
          </p:cNvPr>
          <p:cNvSpPr>
            <a:spLocks noGrp="1"/>
          </p:cNvSpPr>
          <p:nvPr>
            <p:ph type="title"/>
          </p:nvPr>
        </p:nvSpPr>
        <p:spPr/>
        <p:txBody>
          <a:bodyPr>
            <a:normAutofit/>
          </a:bodyPr>
          <a:lstStyle/>
          <a:p>
            <a:r>
              <a:rPr lang="en-IN" sz="3200" dirty="0">
                <a:solidFill>
                  <a:schemeClr val="accent2"/>
                </a:solidFill>
              </a:rPr>
              <a:t>Hardware and Software Requirements</a:t>
            </a:r>
            <a:br>
              <a:rPr lang="en-IN" sz="3200" dirty="0">
                <a:solidFill>
                  <a:schemeClr val="accent2"/>
                </a:solidFill>
              </a:rPr>
            </a:br>
            <a:endParaRPr lang="en-IN" sz="3200" dirty="0">
              <a:solidFill>
                <a:schemeClr val="accent2"/>
              </a:solidFill>
            </a:endParaRPr>
          </a:p>
        </p:txBody>
      </p:sp>
      <p:sp>
        <p:nvSpPr>
          <p:cNvPr id="4" name="TextBox 3">
            <a:extLst>
              <a:ext uri="{FF2B5EF4-FFF2-40B4-BE49-F238E27FC236}">
                <a16:creationId xmlns:a16="http://schemas.microsoft.com/office/drawing/2014/main" id="{EB4F3CED-8266-C67A-DAFA-2DC580B0C4C2}"/>
              </a:ext>
            </a:extLst>
          </p:cNvPr>
          <p:cNvSpPr txBox="1"/>
          <p:nvPr/>
        </p:nvSpPr>
        <p:spPr>
          <a:xfrm>
            <a:off x="1066568" y="1464556"/>
            <a:ext cx="9820274" cy="4770537"/>
          </a:xfrm>
          <a:prstGeom prst="rect">
            <a:avLst/>
          </a:prstGeom>
          <a:noFill/>
        </p:spPr>
        <p:txBody>
          <a:bodyPr wrap="square" rtlCol="0">
            <a:spAutoFit/>
          </a:bodyPr>
          <a:lstStyle/>
          <a:p>
            <a:pPr algn="just"/>
            <a:r>
              <a:rPr lang="en-IN" sz="2400" b="1" dirty="0">
                <a:solidFill>
                  <a:schemeClr val="accent2"/>
                </a:solidFill>
              </a:rPr>
              <a:t>Software:</a:t>
            </a:r>
            <a:endParaRPr lang="en-IN" sz="2400" b="1" dirty="0">
              <a:solidFill>
                <a:schemeClr val="accent5"/>
              </a:solidFill>
            </a:endParaRPr>
          </a:p>
          <a:p>
            <a:pPr marL="342900" indent="-342900" algn="just">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Operating System : </a:t>
            </a:r>
            <a:r>
              <a:rPr lang="pt-BR" dirty="0">
                <a:latin typeface="Calibri" panose="020F0502020204030204" pitchFamily="34" charset="0"/>
                <a:ea typeface="Calibri" panose="020F0502020204030204" pitchFamily="34" charset="0"/>
                <a:cs typeface="Calibri" panose="020F0502020204030204" pitchFamily="34" charset="0"/>
              </a:rPr>
              <a:t>Windows 10/11, macOS, Linux (Ubuntu preferred)</a:t>
            </a:r>
          </a:p>
          <a:p>
            <a:pPr marL="342900" indent="-342900" algn="just">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Frontend Technologies : HTML, CSS, JavaScript, React.js</a:t>
            </a:r>
          </a:p>
          <a:p>
            <a:pPr marL="342900" indent="-342900" algn="just">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Backend Technologies : </a:t>
            </a:r>
            <a:r>
              <a:rPr lang="en-US" dirty="0">
                <a:latin typeface="Calibri" panose="020F0502020204030204" pitchFamily="34" charset="0"/>
                <a:ea typeface="Calibri" panose="020F0502020204030204" pitchFamily="34" charset="0"/>
                <a:cs typeface="Calibri" panose="020F0502020204030204" pitchFamily="34" charset="0"/>
              </a:rPr>
              <a:t>Node.js with Express.js</a:t>
            </a:r>
          </a:p>
          <a:p>
            <a:pPr marL="342900" indent="-342900" algn="just">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Database</a:t>
            </a:r>
            <a:r>
              <a:rPr lang="en-US" dirty="0">
                <a:latin typeface="Calibri" panose="020F0502020204030204" pitchFamily="34" charset="0"/>
                <a:ea typeface="Calibri" panose="020F0502020204030204" pitchFamily="34" charset="0"/>
                <a:cs typeface="Calibri" panose="020F0502020204030204" pitchFamily="34" charset="0"/>
              </a:rPr>
              <a:t> : Supa base</a:t>
            </a:r>
          </a:p>
          <a:p>
            <a:pPr marL="342900" indent="-342900" algn="just">
              <a:buFont typeface="Arial" panose="020B0604020202020204" pitchFamily="34" charset="0"/>
              <a:buChar char="•"/>
            </a:pPr>
            <a:r>
              <a:rPr lang="en-IN" dirty="0">
                <a:solidFill>
                  <a:srgbClr val="0D0D0D"/>
                </a:solidFill>
                <a:latin typeface="Calibri" panose="020F0502020204030204" pitchFamily="34" charset="0"/>
                <a:ea typeface="Calibri" panose="020F0502020204030204" pitchFamily="34" charset="0"/>
                <a:cs typeface="Calibri" panose="020F0502020204030204" pitchFamily="34" charset="0"/>
              </a:rPr>
              <a:t>Version Control : Git, GitHub/GitLab/Bitbucket</a:t>
            </a:r>
          </a:p>
          <a:p>
            <a:pPr marL="342900" indent="-342900" algn="just">
              <a:buFont typeface="Arial" panose="020B0604020202020204" pitchFamily="34" charset="0"/>
              <a:buChar char="•"/>
            </a:pPr>
            <a:r>
              <a:rPr lang="en-IN" dirty="0">
                <a:solidFill>
                  <a:srgbClr val="0D0D0D"/>
                </a:solidFill>
                <a:latin typeface="Calibri" panose="020F0502020204030204" pitchFamily="34" charset="0"/>
                <a:ea typeface="Calibri" panose="020F0502020204030204" pitchFamily="34" charset="0"/>
                <a:cs typeface="Calibri" panose="020F0502020204030204" pitchFamily="34" charset="0"/>
              </a:rPr>
              <a:t>Package Manager : </a:t>
            </a:r>
            <a:r>
              <a:rPr lang="en-IN" dirty="0" err="1">
                <a:solidFill>
                  <a:srgbClr val="0D0D0D"/>
                </a:solidFill>
                <a:latin typeface="Calibri" panose="020F0502020204030204" pitchFamily="34" charset="0"/>
                <a:ea typeface="Calibri" panose="020F0502020204030204" pitchFamily="34" charset="0"/>
                <a:cs typeface="Calibri" panose="020F0502020204030204" pitchFamily="34" charset="0"/>
              </a:rPr>
              <a:t>npm</a:t>
            </a:r>
            <a:endParaRPr lang="en-IN" dirty="0">
              <a:solidFill>
                <a:srgbClr val="0D0D0D"/>
              </a:solidFill>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IN" dirty="0">
                <a:solidFill>
                  <a:srgbClr val="0D0D0D"/>
                </a:solidFill>
                <a:latin typeface="Calibri" panose="020F0502020204030204" pitchFamily="34" charset="0"/>
                <a:ea typeface="Calibri" panose="020F0502020204030204" pitchFamily="34" charset="0"/>
                <a:cs typeface="Calibri" panose="020F0502020204030204" pitchFamily="34" charset="0"/>
              </a:rPr>
              <a:t>IDE/Code Editor : VS Code, Sublime Text, or IntelliJ IDEA</a:t>
            </a:r>
          </a:p>
          <a:p>
            <a:pPr marL="342900" indent="-342900" algn="just">
              <a:buFont typeface="Arial" panose="020B0604020202020204" pitchFamily="34" charset="0"/>
              <a:buChar char="•"/>
            </a:pPr>
            <a:r>
              <a:rPr lang="en-IN" dirty="0">
                <a:solidFill>
                  <a:srgbClr val="0D0D0D"/>
                </a:solidFill>
                <a:latin typeface="Calibri" panose="020F0502020204030204" pitchFamily="34" charset="0"/>
                <a:ea typeface="Calibri" panose="020F0502020204030204" pitchFamily="34" charset="0"/>
                <a:cs typeface="Calibri" panose="020F0502020204030204" pitchFamily="34" charset="0"/>
              </a:rPr>
              <a:t>Browser : </a:t>
            </a:r>
            <a:r>
              <a:rPr lang="en-US" dirty="0">
                <a:solidFill>
                  <a:srgbClr val="0D0D0D"/>
                </a:solidFill>
                <a:latin typeface="Calibri" panose="020F0502020204030204" pitchFamily="34" charset="0"/>
                <a:ea typeface="Calibri" panose="020F0502020204030204" pitchFamily="34" charset="0"/>
                <a:cs typeface="Calibri" panose="020F0502020204030204" pitchFamily="34" charset="0"/>
              </a:rPr>
              <a:t>Google Chrome, Firefox, or Edge</a:t>
            </a:r>
          </a:p>
          <a:p>
            <a:pPr algn="just"/>
            <a:endParaRPr lang="en-IN" sz="2000" dirty="0">
              <a:solidFill>
                <a:schemeClr val="accent5"/>
              </a:solidFill>
            </a:endParaRPr>
          </a:p>
          <a:p>
            <a:pPr algn="just"/>
            <a:r>
              <a:rPr lang="en-IN" sz="2400" b="1" dirty="0">
                <a:solidFill>
                  <a:schemeClr val="accent2"/>
                </a:solidFill>
              </a:rPr>
              <a:t>Hardware:</a:t>
            </a:r>
          </a:p>
          <a:p>
            <a:pPr marL="342900" indent="-342900" algn="just">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Processor: Intel</a:t>
            </a:r>
            <a:r>
              <a:rPr lang="en-IN" dirty="0">
                <a:solidFill>
                  <a:srgbClr val="0D0D0D"/>
                </a:solidFill>
                <a:latin typeface="Calibri" panose="020F0502020204030204" pitchFamily="34" charset="0"/>
                <a:ea typeface="Calibri" panose="020F0502020204030204" pitchFamily="34" charset="0"/>
                <a:cs typeface="Calibri" panose="020F0502020204030204" pitchFamily="34" charset="0"/>
              </a:rPr>
              <a:t> Core i3 or equivalent</a:t>
            </a:r>
          </a:p>
          <a:p>
            <a:pPr marL="342900" indent="-342900" algn="just">
              <a:buFont typeface="Arial" panose="020B0604020202020204" pitchFamily="34" charset="0"/>
              <a:buChar char="•"/>
            </a:pPr>
            <a:r>
              <a:rPr lang="en-IN" dirty="0">
                <a:solidFill>
                  <a:srgbClr val="0D0D0D"/>
                </a:solidFill>
                <a:latin typeface="Calibri" panose="020F0502020204030204" pitchFamily="34" charset="0"/>
                <a:ea typeface="Calibri" panose="020F0502020204030204" pitchFamily="34" charset="0"/>
                <a:cs typeface="Calibri" panose="020F0502020204030204" pitchFamily="34" charset="0"/>
              </a:rPr>
              <a:t>RAM : 4GB</a:t>
            </a:r>
          </a:p>
          <a:p>
            <a:pPr marL="342900" indent="-342900" algn="just">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Storage : 100GB SDD</a:t>
            </a:r>
          </a:p>
          <a:p>
            <a:pPr marL="342900" indent="-34290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Display:1366x768 resolution</a:t>
            </a:r>
            <a:br>
              <a:rPr lang="en-IN" sz="2000" dirty="0"/>
            </a:br>
            <a:endParaRPr lang="en-US" sz="2000" dirty="0">
              <a:solidFill>
                <a:schemeClr val="tx1">
                  <a:lumMod val="95000"/>
                  <a:lumOff val="5000"/>
                </a:schemeClr>
              </a:solidFill>
            </a:endParaRPr>
          </a:p>
        </p:txBody>
      </p:sp>
    </p:spTree>
    <p:extLst>
      <p:ext uri="{BB962C8B-B14F-4D97-AF65-F5344CB8AC3E}">
        <p14:creationId xmlns:p14="http://schemas.microsoft.com/office/powerpoint/2010/main" val="2818935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F0878-2FC5-1D26-102A-1D50124AF6BB}"/>
              </a:ext>
            </a:extLst>
          </p:cNvPr>
          <p:cNvSpPr>
            <a:spLocks noGrp="1"/>
          </p:cNvSpPr>
          <p:nvPr>
            <p:ph type="title"/>
          </p:nvPr>
        </p:nvSpPr>
        <p:spPr/>
        <p:txBody>
          <a:bodyPr>
            <a:normAutofit/>
          </a:bodyPr>
          <a:lstStyle/>
          <a:p>
            <a:r>
              <a:rPr lang="en-IN" sz="3600" dirty="0">
                <a:solidFill>
                  <a:schemeClr val="accent5"/>
                </a:solidFill>
              </a:rPr>
              <a:t>Technologies AND LANGUAGES </a:t>
            </a:r>
          </a:p>
        </p:txBody>
      </p:sp>
      <p:sp>
        <p:nvSpPr>
          <p:cNvPr id="3" name="TextBox 2">
            <a:extLst>
              <a:ext uri="{FF2B5EF4-FFF2-40B4-BE49-F238E27FC236}">
                <a16:creationId xmlns:a16="http://schemas.microsoft.com/office/drawing/2014/main" id="{C73A0F4E-8057-EF90-3B69-49FD844FFDE5}"/>
              </a:ext>
            </a:extLst>
          </p:cNvPr>
          <p:cNvSpPr txBox="1"/>
          <p:nvPr/>
        </p:nvSpPr>
        <p:spPr>
          <a:xfrm>
            <a:off x="1508268" y="2228671"/>
            <a:ext cx="7516368" cy="1292662"/>
          </a:xfrm>
          <a:prstGeom prst="rect">
            <a:avLst/>
          </a:prstGeom>
          <a:noFill/>
        </p:spPr>
        <p:txBody>
          <a:bodyPr wrap="square" rtlCol="0">
            <a:spAutoFit/>
          </a:bodyPr>
          <a:lstStyle/>
          <a:p>
            <a:r>
              <a:rPr lang="en-IN" sz="2400" dirty="0">
                <a:solidFill>
                  <a:schemeClr val="accent3"/>
                </a:solidFill>
              </a:rPr>
              <a:t>FORNTEND </a:t>
            </a:r>
          </a:p>
          <a:p>
            <a:pPr marL="285750" indent="-285750">
              <a:buFont typeface="Arial" panose="020B0604020202020204" pitchFamily="34" charset="0"/>
              <a:buChar char="•"/>
            </a:pPr>
            <a:r>
              <a:rPr lang="en-IN" dirty="0"/>
              <a:t>REACT</a:t>
            </a:r>
          </a:p>
          <a:p>
            <a:pPr marL="285750" indent="-285750">
              <a:buFont typeface="Arial" panose="020B0604020202020204" pitchFamily="34" charset="0"/>
              <a:buChar char="•"/>
            </a:pPr>
            <a:r>
              <a:rPr lang="en-IN" dirty="0"/>
              <a:t>JAVASCRIPT</a:t>
            </a:r>
          </a:p>
          <a:p>
            <a:pPr marL="285750" indent="-285750">
              <a:buFont typeface="Arial" panose="020B0604020202020204" pitchFamily="34" charset="0"/>
              <a:buChar char="•"/>
            </a:pPr>
            <a:r>
              <a:rPr lang="en-IN" dirty="0"/>
              <a:t>CSS</a:t>
            </a:r>
          </a:p>
        </p:txBody>
      </p:sp>
      <p:sp>
        <p:nvSpPr>
          <p:cNvPr id="4" name="TextBox 3">
            <a:extLst>
              <a:ext uri="{FF2B5EF4-FFF2-40B4-BE49-F238E27FC236}">
                <a16:creationId xmlns:a16="http://schemas.microsoft.com/office/drawing/2014/main" id="{3A9F3855-AF63-6346-FCF0-D317EA0F5FCD}"/>
              </a:ext>
            </a:extLst>
          </p:cNvPr>
          <p:cNvSpPr txBox="1"/>
          <p:nvPr/>
        </p:nvSpPr>
        <p:spPr>
          <a:xfrm>
            <a:off x="1508268" y="3916625"/>
            <a:ext cx="6592824" cy="738664"/>
          </a:xfrm>
          <a:prstGeom prst="rect">
            <a:avLst/>
          </a:prstGeom>
          <a:noFill/>
        </p:spPr>
        <p:txBody>
          <a:bodyPr wrap="square" rtlCol="0">
            <a:spAutoFit/>
          </a:bodyPr>
          <a:lstStyle/>
          <a:p>
            <a:r>
              <a:rPr lang="en-IN" sz="2400" dirty="0">
                <a:solidFill>
                  <a:schemeClr val="accent3"/>
                </a:solidFill>
              </a:rPr>
              <a:t>BACKEND</a:t>
            </a:r>
          </a:p>
          <a:p>
            <a:pPr marL="285750" indent="-285750">
              <a:buFont typeface="Arial" panose="020B0604020202020204" pitchFamily="34" charset="0"/>
              <a:buChar char="•"/>
            </a:pPr>
            <a:r>
              <a:rPr lang="en-IN" dirty="0"/>
              <a:t>Node </a:t>
            </a:r>
            <a:r>
              <a:rPr lang="en-IN" dirty="0" err="1"/>
              <a:t>js</a:t>
            </a:r>
            <a:endParaRPr lang="en-IN" dirty="0"/>
          </a:p>
        </p:txBody>
      </p:sp>
      <p:sp>
        <p:nvSpPr>
          <p:cNvPr id="5" name="TextBox 4">
            <a:extLst>
              <a:ext uri="{FF2B5EF4-FFF2-40B4-BE49-F238E27FC236}">
                <a16:creationId xmlns:a16="http://schemas.microsoft.com/office/drawing/2014/main" id="{D81DB36A-5FC4-0034-1CCF-2A8DD7DF0D43}"/>
              </a:ext>
            </a:extLst>
          </p:cNvPr>
          <p:cNvSpPr txBox="1"/>
          <p:nvPr/>
        </p:nvSpPr>
        <p:spPr>
          <a:xfrm>
            <a:off x="5876544" y="2228671"/>
            <a:ext cx="2606040" cy="1384995"/>
          </a:xfrm>
          <a:prstGeom prst="rect">
            <a:avLst/>
          </a:prstGeom>
          <a:noFill/>
        </p:spPr>
        <p:txBody>
          <a:bodyPr wrap="square" rtlCol="0">
            <a:spAutoFit/>
          </a:bodyPr>
          <a:lstStyle/>
          <a:p>
            <a:r>
              <a:rPr lang="en-IN" sz="2400" dirty="0">
                <a:solidFill>
                  <a:schemeClr val="accent3"/>
                </a:solidFill>
              </a:rPr>
              <a:t>IDE</a:t>
            </a:r>
          </a:p>
          <a:p>
            <a:pPr marL="285750" indent="-285750">
              <a:buFont typeface="Arial" panose="020B0604020202020204" pitchFamily="34" charset="0"/>
              <a:buChar char="•"/>
            </a:pPr>
            <a:r>
              <a:rPr lang="en-IN" sz="2000" dirty="0"/>
              <a:t>Visual Studio </a:t>
            </a:r>
          </a:p>
          <a:p>
            <a:pPr marL="285750" indent="-285750">
              <a:buFont typeface="Arial" panose="020B0604020202020204" pitchFamily="34" charset="0"/>
              <a:buChar char="•"/>
            </a:pPr>
            <a:r>
              <a:rPr lang="en-IN" sz="2000" dirty="0"/>
              <a:t>Sublime</a:t>
            </a:r>
          </a:p>
          <a:p>
            <a:endParaRPr lang="en-IN" sz="2000" dirty="0">
              <a:solidFill>
                <a:schemeClr val="accent4"/>
              </a:solidFill>
            </a:endParaRPr>
          </a:p>
        </p:txBody>
      </p:sp>
    </p:spTree>
    <p:extLst>
      <p:ext uri="{BB962C8B-B14F-4D97-AF65-F5344CB8AC3E}">
        <p14:creationId xmlns:p14="http://schemas.microsoft.com/office/powerpoint/2010/main" val="3148493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F673E-8462-259E-61DD-C80A88C62748}"/>
              </a:ext>
            </a:extLst>
          </p:cNvPr>
          <p:cNvSpPr>
            <a:spLocks noGrp="1"/>
          </p:cNvSpPr>
          <p:nvPr>
            <p:ph type="title"/>
          </p:nvPr>
        </p:nvSpPr>
        <p:spPr>
          <a:xfrm>
            <a:off x="397688" y="371231"/>
            <a:ext cx="9603275" cy="1049235"/>
          </a:xfrm>
        </p:spPr>
        <p:txBody>
          <a:bodyPr>
            <a:normAutofit fontScale="90000"/>
          </a:bodyPr>
          <a:lstStyle/>
          <a:p>
            <a:r>
              <a:rPr lang="en-IN" dirty="0">
                <a:solidFill>
                  <a:schemeClr val="accent2"/>
                </a:solidFill>
              </a:rPr>
              <a:t>Data flow diagram</a:t>
            </a:r>
            <a:br>
              <a:rPr lang="en-IN" sz="4400" dirty="0">
                <a:solidFill>
                  <a:schemeClr val="accent4"/>
                </a:solidFill>
              </a:rPr>
            </a:br>
            <a:endParaRPr lang="en-IN" sz="4400" dirty="0">
              <a:solidFill>
                <a:schemeClr val="accent4"/>
              </a:solidFill>
            </a:endParaRPr>
          </a:p>
        </p:txBody>
      </p:sp>
      <p:pic>
        <p:nvPicPr>
          <p:cNvPr id="4" name="Picture 3" descr="A diagram of a company&#10;&#10;Description automatically generated with medium confidence">
            <a:extLst>
              <a:ext uri="{FF2B5EF4-FFF2-40B4-BE49-F238E27FC236}">
                <a16:creationId xmlns:a16="http://schemas.microsoft.com/office/drawing/2014/main" id="{84395D73-826D-C5B7-C97D-886AC6169D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314" y="1121698"/>
            <a:ext cx="10876080" cy="5365071"/>
          </a:xfrm>
          <a:prstGeom prst="rect">
            <a:avLst/>
          </a:prstGeom>
        </p:spPr>
      </p:pic>
    </p:spTree>
    <p:extLst>
      <p:ext uri="{BB962C8B-B14F-4D97-AF65-F5344CB8AC3E}">
        <p14:creationId xmlns:p14="http://schemas.microsoft.com/office/powerpoint/2010/main" val="3010598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FA732-8432-84DD-2BE7-4229198B551F}"/>
              </a:ext>
            </a:extLst>
          </p:cNvPr>
          <p:cNvSpPr>
            <a:spLocks noGrp="1"/>
          </p:cNvSpPr>
          <p:nvPr>
            <p:ph type="title"/>
          </p:nvPr>
        </p:nvSpPr>
        <p:spPr>
          <a:xfrm>
            <a:off x="320040" y="462780"/>
            <a:ext cx="9603275" cy="1049235"/>
          </a:xfrm>
        </p:spPr>
        <p:txBody>
          <a:bodyPr/>
          <a:lstStyle/>
          <a:p>
            <a:r>
              <a:rPr lang="en-US" dirty="0">
                <a:solidFill>
                  <a:schemeClr val="accent2"/>
                </a:solidFill>
              </a:rPr>
              <a:t>Er diagram </a:t>
            </a:r>
            <a:endParaRPr lang="en-IN" dirty="0">
              <a:solidFill>
                <a:schemeClr val="accent4"/>
              </a:solidFill>
            </a:endParaRPr>
          </a:p>
        </p:txBody>
      </p:sp>
      <p:pic>
        <p:nvPicPr>
          <p:cNvPr id="4" name="Picture 3" descr="A diagram of a company">
            <a:extLst>
              <a:ext uri="{FF2B5EF4-FFF2-40B4-BE49-F238E27FC236}">
                <a16:creationId xmlns:a16="http://schemas.microsoft.com/office/drawing/2014/main" id="{F3E6D26D-A576-9C0A-E396-E9241246BBB0}"/>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932516" y="1059731"/>
            <a:ext cx="9517891" cy="5105095"/>
          </a:xfrm>
          <a:prstGeom prst="rect">
            <a:avLst/>
          </a:prstGeom>
          <a:pattFill prst="pct5">
            <a:fgClr>
              <a:schemeClr val="accent1"/>
            </a:fgClr>
            <a:bgClr>
              <a:schemeClr val="bg1"/>
            </a:bgClr>
          </a:pattFill>
          <a:effectLst>
            <a:reflection endPos="0" dist="50800" dir="5400000" sy="-100000" algn="bl" rotWithShape="0"/>
          </a:effectLst>
        </p:spPr>
      </p:pic>
    </p:spTree>
    <p:extLst>
      <p:ext uri="{BB962C8B-B14F-4D97-AF65-F5344CB8AC3E}">
        <p14:creationId xmlns:p14="http://schemas.microsoft.com/office/powerpoint/2010/main" val="1041826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61C7C-937F-CEB6-594D-7CDE42F38816}"/>
              </a:ext>
            </a:extLst>
          </p:cNvPr>
          <p:cNvSpPr>
            <a:spLocks noGrp="1"/>
          </p:cNvSpPr>
          <p:nvPr>
            <p:ph type="title"/>
          </p:nvPr>
        </p:nvSpPr>
        <p:spPr>
          <a:xfrm>
            <a:off x="690880" y="396240"/>
            <a:ext cx="7655769" cy="1256647"/>
          </a:xfrm>
        </p:spPr>
        <p:txBody>
          <a:bodyPr>
            <a:normAutofit/>
          </a:bodyPr>
          <a:lstStyle/>
          <a:p>
            <a:r>
              <a:rPr lang="en-IN" sz="2400" dirty="0">
                <a:solidFill>
                  <a:schemeClr val="accent4"/>
                </a:solidFill>
              </a:rPr>
              <a:t>Benefits</a:t>
            </a:r>
            <a:r>
              <a:rPr lang="en-IN" dirty="0">
                <a:solidFill>
                  <a:schemeClr val="accent4"/>
                </a:solidFill>
              </a:rPr>
              <a:t> </a:t>
            </a:r>
          </a:p>
        </p:txBody>
      </p:sp>
      <p:sp>
        <p:nvSpPr>
          <p:cNvPr id="12" name="TextBox 11">
            <a:extLst>
              <a:ext uri="{FF2B5EF4-FFF2-40B4-BE49-F238E27FC236}">
                <a16:creationId xmlns:a16="http://schemas.microsoft.com/office/drawing/2014/main" id="{5F56CB20-869B-940D-5D6C-9CAE493A6234}"/>
              </a:ext>
            </a:extLst>
          </p:cNvPr>
          <p:cNvSpPr txBox="1"/>
          <p:nvPr/>
        </p:nvSpPr>
        <p:spPr>
          <a:xfrm>
            <a:off x="1484671" y="2880852"/>
            <a:ext cx="184731" cy="369332"/>
          </a:xfrm>
          <a:prstGeom prst="rect">
            <a:avLst/>
          </a:prstGeom>
          <a:noFill/>
        </p:spPr>
        <p:txBody>
          <a:bodyPr wrap="square" rtlCol="0">
            <a:spAutoFit/>
          </a:bodyPr>
          <a:lstStyle/>
          <a:p>
            <a:endParaRPr lang="en-IN" dirty="0"/>
          </a:p>
        </p:txBody>
      </p:sp>
      <p:sp>
        <p:nvSpPr>
          <p:cNvPr id="13" name="TextBox 12">
            <a:extLst>
              <a:ext uri="{FF2B5EF4-FFF2-40B4-BE49-F238E27FC236}">
                <a16:creationId xmlns:a16="http://schemas.microsoft.com/office/drawing/2014/main" id="{DE54EFC6-3327-1D51-716F-5DB53C1AA859}"/>
              </a:ext>
            </a:extLst>
          </p:cNvPr>
          <p:cNvSpPr txBox="1"/>
          <p:nvPr/>
        </p:nvSpPr>
        <p:spPr>
          <a:xfrm>
            <a:off x="504283" y="1226167"/>
            <a:ext cx="11183433" cy="6463308"/>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Efficient Job Matching</a:t>
            </a:r>
            <a:r>
              <a:rPr lang="en-US" dirty="0">
                <a:latin typeface="Calibri" panose="020F0502020204030204" pitchFamily="34" charset="0"/>
                <a:ea typeface="Calibri" panose="020F0502020204030204" pitchFamily="34" charset="0"/>
                <a:cs typeface="Calibri" panose="020F0502020204030204" pitchFamily="34" charset="0"/>
              </a:rPr>
              <a:t>: It streamlines the job search and hiring process by connecting candidates with recruiters quickly and easily.</a:t>
            </a:r>
          </a:p>
          <a:p>
            <a:pPr marL="285750" indent="-285750" algn="just">
              <a:lnSpc>
                <a:spcPct val="150000"/>
              </a:lnSpc>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Centralized Platform</a:t>
            </a:r>
            <a:r>
              <a:rPr lang="en-US" dirty="0">
                <a:latin typeface="Calibri" panose="020F0502020204030204" pitchFamily="34" charset="0"/>
                <a:ea typeface="Calibri" panose="020F0502020204030204" pitchFamily="34" charset="0"/>
                <a:cs typeface="Calibri" panose="020F0502020204030204" pitchFamily="34" charset="0"/>
              </a:rPr>
              <a:t>: Both job seekers and recruiters can manage their profiles, applications, and job postings in one place, saving time and effort.</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Increased Opportunities</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It provides candidates with more job opportunities and recruiters with access to a larger pool of potential employees.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b="1" dirty="0">
                <a:latin typeface="Calibri" panose="020F0502020204030204" pitchFamily="34" charset="0"/>
                <a:ea typeface="Calibri" panose="020F0502020204030204" pitchFamily="34" charset="0"/>
                <a:cs typeface="Calibri" panose="020F0502020204030204" pitchFamily="34" charset="0"/>
              </a:rPr>
              <a:t>Improved User Experience</a:t>
            </a:r>
            <a:r>
              <a:rPr lang="en-US" dirty="0">
                <a:latin typeface="Calibri" panose="020F0502020204030204" pitchFamily="34" charset="0"/>
                <a:ea typeface="Calibri" panose="020F0502020204030204" pitchFamily="34" charset="0"/>
                <a:cs typeface="Calibri" panose="020F0502020204030204" pitchFamily="34" charset="0"/>
              </a:rPr>
              <a:t>: The platform makes it easier for users to navigate, apply, and post jobs with features like profile editing, resume uploads, and job filtering.</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2716750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 name="Group 76">
            <a:extLst>
              <a:ext uri="{FF2B5EF4-FFF2-40B4-BE49-F238E27FC236}">
                <a16:creationId xmlns:a16="http://schemas.microsoft.com/office/drawing/2014/main" id="{3DFBBA17-68C1-41F9-89F3-78F3F2DB97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78" name="Freeform 14">
              <a:extLst>
                <a:ext uri="{FF2B5EF4-FFF2-40B4-BE49-F238E27FC236}">
                  <a16:creationId xmlns:a16="http://schemas.microsoft.com/office/drawing/2014/main" id="{3054DDBF-C387-4540-A45A-F9BEB040C2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45" name="Straight Connector 44">
              <a:extLst>
                <a:ext uri="{FF2B5EF4-FFF2-40B4-BE49-F238E27FC236}">
                  <a16:creationId xmlns:a16="http://schemas.microsoft.com/office/drawing/2014/main" id="{7BD859CE-CE14-4780-AE18-EAE4B3284BA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0B8A132-768E-483C-A30F-37EB64E0411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79" name="Rectangle 23">
              <a:extLst>
                <a:ext uri="{FF2B5EF4-FFF2-40B4-BE49-F238E27FC236}">
                  <a16:creationId xmlns:a16="http://schemas.microsoft.com/office/drawing/2014/main" id="{F81F31DC-17B7-43F3-B8DB-CA79E1A1E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0" name="Rectangle 25">
              <a:extLst>
                <a:ext uri="{FF2B5EF4-FFF2-40B4-BE49-F238E27FC236}">
                  <a16:creationId xmlns:a16="http://schemas.microsoft.com/office/drawing/2014/main" id="{66612D03-B350-4569-BA9B-D1E1F914A5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1" name="Isosceles Triangle 80">
              <a:extLst>
                <a:ext uri="{FF2B5EF4-FFF2-40B4-BE49-F238E27FC236}">
                  <a16:creationId xmlns:a16="http://schemas.microsoft.com/office/drawing/2014/main" id="{C382562E-51EA-49FC-9CA9-9E3E9FCFAE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2" name="Rectangle 27">
              <a:extLst>
                <a:ext uri="{FF2B5EF4-FFF2-40B4-BE49-F238E27FC236}">
                  <a16:creationId xmlns:a16="http://schemas.microsoft.com/office/drawing/2014/main" id="{F202B3CB-9607-4519-9EB5-286A461D8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3" name="Rectangle 28">
              <a:extLst>
                <a:ext uri="{FF2B5EF4-FFF2-40B4-BE49-F238E27FC236}">
                  <a16:creationId xmlns:a16="http://schemas.microsoft.com/office/drawing/2014/main" id="{8635CEA0-18EC-41D7-BFAE-B45A7669C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4" name="Rectangle 29">
              <a:extLst>
                <a:ext uri="{FF2B5EF4-FFF2-40B4-BE49-F238E27FC236}">
                  <a16:creationId xmlns:a16="http://schemas.microsoft.com/office/drawing/2014/main" id="{FC79C36B-0CF0-4AA7-A3BF-42D6B93173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5" name="Isosceles Triangle 84">
              <a:extLst>
                <a:ext uri="{FF2B5EF4-FFF2-40B4-BE49-F238E27FC236}">
                  <a16:creationId xmlns:a16="http://schemas.microsoft.com/office/drawing/2014/main" id="{1D6C24F4-F8D2-44C2-8CFA-D14C5561D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pic>
        <p:nvPicPr>
          <p:cNvPr id="7" name="Picture 6" descr="A screenshot of a computer&#10;&#10;Description automatically generated">
            <a:extLst>
              <a:ext uri="{FF2B5EF4-FFF2-40B4-BE49-F238E27FC236}">
                <a16:creationId xmlns:a16="http://schemas.microsoft.com/office/drawing/2014/main" id="{A644F6D6-0914-98C1-4BBE-E2B5B3131190}"/>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l="26010" r="25615"/>
          <a:stretch/>
        </p:blipFill>
        <p:spPr>
          <a:xfrm>
            <a:off x="0" y="-8467"/>
            <a:ext cx="5897982" cy="6857990"/>
          </a:xfrm>
          <a:custGeom>
            <a:avLst/>
            <a:gdLst/>
            <a:ahLst/>
            <a:cxnLst/>
            <a:rect l="l" t="t" r="r" b="b"/>
            <a:pathLst>
              <a:path w="5898002" h="6858000">
                <a:moveTo>
                  <a:pt x="0" y="0"/>
                </a:moveTo>
                <a:lnTo>
                  <a:pt x="5898002" y="0"/>
                </a:lnTo>
                <a:lnTo>
                  <a:pt x="4873624" y="6858000"/>
                </a:lnTo>
                <a:lnTo>
                  <a:pt x="0" y="6858000"/>
                </a:lnTo>
                <a:close/>
              </a:path>
            </a:pathLst>
          </a:custGeom>
        </p:spPr>
      </p:pic>
      <p:sp>
        <p:nvSpPr>
          <p:cNvPr id="86" name="Isosceles Triangle 30">
            <a:extLst>
              <a:ext uri="{FF2B5EF4-FFF2-40B4-BE49-F238E27FC236}">
                <a16:creationId xmlns:a16="http://schemas.microsoft.com/office/drawing/2014/main" id="{A59A7AF3-6F9D-4269-B837-5ABE1F76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5" name="Picture 4" descr="A screenshot of a computer">
            <a:extLst>
              <a:ext uri="{FF2B5EF4-FFF2-40B4-BE49-F238E27FC236}">
                <a16:creationId xmlns:a16="http://schemas.microsoft.com/office/drawing/2014/main" id="{52224076-A168-3BDF-B813-B32C1D290921}"/>
              </a:ext>
            </a:extLst>
          </p:cNvPr>
          <p:cNvPicPr>
            <a:picLocks noChangeAspect="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l="20261" r="19763"/>
          <a:stretch/>
        </p:blipFill>
        <p:spPr>
          <a:xfrm>
            <a:off x="4879728" y="10"/>
            <a:ext cx="7312272" cy="6857990"/>
          </a:xfrm>
          <a:custGeom>
            <a:avLst/>
            <a:gdLst/>
            <a:ahLst/>
            <a:cxnLst/>
            <a:rect l="l" t="t" r="r" b="b"/>
            <a:pathLst>
              <a:path w="7312272" h="6858000">
                <a:moveTo>
                  <a:pt x="1024379" y="0"/>
                </a:moveTo>
                <a:lnTo>
                  <a:pt x="7312272" y="0"/>
                </a:lnTo>
                <a:lnTo>
                  <a:pt x="7312272" y="6858000"/>
                </a:lnTo>
                <a:lnTo>
                  <a:pt x="0" y="6858000"/>
                </a:lnTo>
                <a:close/>
              </a:path>
            </a:pathLst>
          </a:custGeom>
        </p:spPr>
      </p:pic>
      <p:sp>
        <p:nvSpPr>
          <p:cNvPr id="87" name="Parallelogram 86">
            <a:extLst>
              <a:ext uri="{FF2B5EF4-FFF2-40B4-BE49-F238E27FC236}">
                <a16:creationId xmlns:a16="http://schemas.microsoft.com/office/drawing/2014/main" id="{5726BE9D-5556-4491-B37F-0F0B1FF9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10821" y="3589867"/>
            <a:ext cx="9786780" cy="2177879"/>
          </a:xfrm>
          <a:prstGeom prst="parallelogram">
            <a:avLst>
              <a:gd name="adj" fmla="val 14777"/>
            </a:avLst>
          </a:prstGeom>
          <a:solidFill>
            <a:schemeClr val="bg1">
              <a:alpha val="98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8" name="Straight Connector 87">
            <a:extLst>
              <a:ext uri="{FF2B5EF4-FFF2-40B4-BE49-F238E27FC236}">
                <a16:creationId xmlns:a16="http://schemas.microsoft.com/office/drawing/2014/main" id="{ECE6E8DA-E13C-427D-BB55-5E15CFE400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D070A2BD-2E98-4976-A10F-C43EF90FB43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90" name="Rectangle 23">
            <a:extLst>
              <a:ext uri="{FF2B5EF4-FFF2-40B4-BE49-F238E27FC236}">
                <a16:creationId xmlns:a16="http://schemas.microsoft.com/office/drawing/2014/main" id="{6A8A68A4-4657-4D45-BCF4-8880CC714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1" name="Rectangle 25">
            <a:extLst>
              <a:ext uri="{FF2B5EF4-FFF2-40B4-BE49-F238E27FC236}">
                <a16:creationId xmlns:a16="http://schemas.microsoft.com/office/drawing/2014/main" id="{38D5CC49-AC60-45C3-9F83-04357EBED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2" name="Isosceles Triangle 24">
            <a:extLst>
              <a:ext uri="{FF2B5EF4-FFF2-40B4-BE49-F238E27FC236}">
                <a16:creationId xmlns:a16="http://schemas.microsoft.com/office/drawing/2014/main" id="{172AB5AF-5DB2-483B-BC61-727A9A7816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5629C143-C5BB-7FCC-6EA9-053169D2A8C9}"/>
              </a:ext>
            </a:extLst>
          </p:cNvPr>
          <p:cNvSpPr>
            <a:spLocks noGrp="1"/>
          </p:cNvSpPr>
          <p:nvPr>
            <p:ph type="title"/>
          </p:nvPr>
        </p:nvSpPr>
        <p:spPr>
          <a:xfrm>
            <a:off x="2147355" y="4113470"/>
            <a:ext cx="7126648" cy="765867"/>
          </a:xfrm>
        </p:spPr>
        <p:txBody>
          <a:bodyPr vert="horz" lIns="91440" tIns="45720" rIns="91440" bIns="45720" rtlCol="0" anchor="b">
            <a:normAutofit/>
          </a:bodyPr>
          <a:lstStyle/>
          <a:p>
            <a:pPr algn="r"/>
            <a:r>
              <a:rPr lang="en-US" sz="4400" dirty="0"/>
              <a:t>Sign up or register page</a:t>
            </a:r>
          </a:p>
        </p:txBody>
      </p:sp>
      <p:sp>
        <p:nvSpPr>
          <p:cNvPr id="93" name="Rectangle 27">
            <a:extLst>
              <a:ext uri="{FF2B5EF4-FFF2-40B4-BE49-F238E27FC236}">
                <a16:creationId xmlns:a16="http://schemas.microsoft.com/office/drawing/2014/main" id="{27C84503-907E-4020-9EEB-F5259CE15E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4" name="Rectangle 28">
            <a:extLst>
              <a:ext uri="{FF2B5EF4-FFF2-40B4-BE49-F238E27FC236}">
                <a16:creationId xmlns:a16="http://schemas.microsoft.com/office/drawing/2014/main" id="{74DAF013-A69D-4B56-BD6C-552CE1D8C1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5" name="Rectangle 29">
            <a:extLst>
              <a:ext uri="{FF2B5EF4-FFF2-40B4-BE49-F238E27FC236}">
                <a16:creationId xmlns:a16="http://schemas.microsoft.com/office/drawing/2014/main" id="{0C25AD63-EEA8-42C5-B59A-A0A44C9E0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6" name="Isosceles Triangle 29">
            <a:extLst>
              <a:ext uri="{FF2B5EF4-FFF2-40B4-BE49-F238E27FC236}">
                <a16:creationId xmlns:a16="http://schemas.microsoft.com/office/drawing/2014/main" id="{C4575C16-998F-4F09-A6CD-267292916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235408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13A0F3-5921-36AF-C062-598228E8DF2B}"/>
              </a:ext>
            </a:extLst>
          </p:cNvPr>
          <p:cNvSpPr>
            <a:spLocks noGrp="1"/>
          </p:cNvSpPr>
          <p:nvPr>
            <p:ph type="title"/>
          </p:nvPr>
        </p:nvSpPr>
        <p:spPr/>
        <p:txBody>
          <a:bodyPr/>
          <a:lstStyle/>
          <a:p>
            <a:endParaRPr lang="en-IN"/>
          </a:p>
        </p:txBody>
      </p:sp>
      <p:pic>
        <p:nvPicPr>
          <p:cNvPr id="31" name="Picture 30" descr="A screenshot of a computer">
            <a:extLst>
              <a:ext uri="{FF2B5EF4-FFF2-40B4-BE49-F238E27FC236}">
                <a16:creationId xmlns:a16="http://schemas.microsoft.com/office/drawing/2014/main" id="{6E4A177F-54CF-0CE2-0492-C578E5B0C7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106" y="121919"/>
            <a:ext cx="5839326" cy="3455471"/>
          </a:xfrm>
          <a:prstGeom prst="rect">
            <a:avLst/>
          </a:prstGeom>
        </p:spPr>
      </p:pic>
      <p:pic>
        <p:nvPicPr>
          <p:cNvPr id="34" name="Picture 33" descr="A screenshot of a computer">
            <a:extLst>
              <a:ext uri="{FF2B5EF4-FFF2-40B4-BE49-F238E27FC236}">
                <a16:creationId xmlns:a16="http://schemas.microsoft.com/office/drawing/2014/main" id="{F86574AC-F6D0-23A1-880F-83DCD1FE00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34447" y="121919"/>
            <a:ext cx="6103132" cy="3455472"/>
          </a:xfrm>
          <a:prstGeom prst="rect">
            <a:avLst/>
          </a:prstGeom>
        </p:spPr>
      </p:pic>
      <p:pic>
        <p:nvPicPr>
          <p:cNvPr id="36" name="Picture 35" descr="A screenshot of a computer">
            <a:extLst>
              <a:ext uri="{FF2B5EF4-FFF2-40B4-BE49-F238E27FC236}">
                <a16:creationId xmlns:a16="http://schemas.microsoft.com/office/drawing/2014/main" id="{9D4E4ED4-5C94-E462-F314-9EA8DD9CA2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3107" y="3684254"/>
            <a:ext cx="5839326" cy="2963681"/>
          </a:xfrm>
          <a:prstGeom prst="rect">
            <a:avLst/>
          </a:prstGeom>
        </p:spPr>
      </p:pic>
      <p:pic>
        <p:nvPicPr>
          <p:cNvPr id="38" name="Picture 37" descr="A screenshot of a computer&#10;&#10;Description automatically generated">
            <a:extLst>
              <a:ext uri="{FF2B5EF4-FFF2-40B4-BE49-F238E27FC236}">
                <a16:creationId xmlns:a16="http://schemas.microsoft.com/office/drawing/2014/main" id="{C4B95D99-20D1-5F59-8DF0-42012EC9B35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3684254"/>
            <a:ext cx="6041579" cy="2963681"/>
          </a:xfrm>
          <a:prstGeom prst="rect">
            <a:avLst/>
          </a:prstGeom>
        </p:spPr>
      </p:pic>
      <p:sp>
        <p:nvSpPr>
          <p:cNvPr id="40" name="TextBox 39">
            <a:extLst>
              <a:ext uri="{FF2B5EF4-FFF2-40B4-BE49-F238E27FC236}">
                <a16:creationId xmlns:a16="http://schemas.microsoft.com/office/drawing/2014/main" id="{17943B35-38C5-C5AF-84D9-A699705A1A66}"/>
              </a:ext>
            </a:extLst>
          </p:cNvPr>
          <p:cNvSpPr txBox="1"/>
          <p:nvPr/>
        </p:nvSpPr>
        <p:spPr>
          <a:xfrm>
            <a:off x="4838566" y="-62747"/>
            <a:ext cx="2247731" cy="369332"/>
          </a:xfrm>
          <a:prstGeom prst="rect">
            <a:avLst/>
          </a:prstGeom>
          <a:noFill/>
        </p:spPr>
        <p:txBody>
          <a:bodyPr wrap="none" rtlCol="0">
            <a:spAutoFit/>
          </a:bodyPr>
          <a:lstStyle/>
          <a:p>
            <a:r>
              <a:rPr lang="en-US" dirty="0">
                <a:highlight>
                  <a:srgbClr val="00FF00"/>
                </a:highlight>
              </a:rPr>
              <a:t>Candidate Interface</a:t>
            </a:r>
            <a:endParaRPr lang="en-IN" dirty="0">
              <a:highlight>
                <a:srgbClr val="00FF00"/>
              </a:highlight>
            </a:endParaRPr>
          </a:p>
        </p:txBody>
      </p:sp>
    </p:spTree>
    <p:extLst>
      <p:ext uri="{BB962C8B-B14F-4D97-AF65-F5344CB8AC3E}">
        <p14:creationId xmlns:p14="http://schemas.microsoft.com/office/powerpoint/2010/main" val="3839937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fade">
                                      <p:cBhvr>
                                        <p:cTn id="7" dur="750"/>
                                        <p:tgtEl>
                                          <p:spTgt spid="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62ABC4B-37D8-4218-BDD8-6DF6A00C0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descr="A computer screen shot of a computer&#10;&#10;Description automatically generated">
            <a:extLst>
              <a:ext uri="{FF2B5EF4-FFF2-40B4-BE49-F238E27FC236}">
                <a16:creationId xmlns:a16="http://schemas.microsoft.com/office/drawing/2014/main" id="{881585C4-2AAA-BEFE-E1DC-C3E364CFB22A}"/>
              </a:ext>
            </a:extLst>
          </p:cNvPr>
          <p:cNvPicPr>
            <a:picLocks noChangeAspect="1"/>
          </p:cNvPicPr>
          <p:nvPr/>
        </p:nvPicPr>
        <p:blipFill>
          <a:blip r:embed="rId2">
            <a:extLst>
              <a:ext uri="{28A0092B-C50C-407E-A947-70E740481C1C}">
                <a14:useLocalDpi xmlns:a14="http://schemas.microsoft.com/office/drawing/2010/main" val="0"/>
              </a:ext>
            </a:extLst>
          </a:blip>
          <a:srcRect r="-2" b="5472"/>
          <a:stretch/>
        </p:blipFill>
        <p:spPr>
          <a:xfrm>
            <a:off x="321730" y="321732"/>
            <a:ext cx="5674897" cy="3017405"/>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3C22DD40-CD0A-E1A7-7E65-3A6D19BE2896}"/>
              </a:ext>
            </a:extLst>
          </p:cNvPr>
          <p:cNvPicPr>
            <a:picLocks noChangeAspect="1"/>
          </p:cNvPicPr>
          <p:nvPr/>
        </p:nvPicPr>
        <p:blipFill>
          <a:blip r:embed="rId3">
            <a:extLst>
              <a:ext uri="{28A0092B-C50C-407E-A947-70E740481C1C}">
                <a14:useLocalDpi xmlns:a14="http://schemas.microsoft.com/office/drawing/2010/main" val="0"/>
              </a:ext>
            </a:extLst>
          </a:blip>
          <a:srcRect t="6704" r="-2" b="5894"/>
          <a:stretch/>
        </p:blipFill>
        <p:spPr>
          <a:xfrm>
            <a:off x="321730" y="3510853"/>
            <a:ext cx="5674897" cy="2789954"/>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E5962654-2C0E-5137-2C45-40D52125E79D}"/>
              </a:ext>
            </a:extLst>
          </p:cNvPr>
          <p:cNvPicPr>
            <a:picLocks noChangeAspect="1"/>
          </p:cNvPicPr>
          <p:nvPr/>
        </p:nvPicPr>
        <p:blipFill>
          <a:blip r:embed="rId4">
            <a:extLst>
              <a:ext uri="{28A0092B-C50C-407E-A947-70E740481C1C}">
                <a14:useLocalDpi xmlns:a14="http://schemas.microsoft.com/office/drawing/2010/main" val="0"/>
              </a:ext>
            </a:extLst>
          </a:blip>
          <a:srcRect l="20359" r="26254" b="1"/>
          <a:stretch/>
        </p:blipFill>
        <p:spPr>
          <a:xfrm>
            <a:off x="6195373" y="321733"/>
            <a:ext cx="5674897" cy="5979074"/>
          </a:xfrm>
          <a:prstGeom prst="rect">
            <a:avLst/>
          </a:prstGeom>
        </p:spPr>
      </p:pic>
      <p:sp>
        <p:nvSpPr>
          <p:cNvPr id="10" name="TextBox 9">
            <a:extLst>
              <a:ext uri="{FF2B5EF4-FFF2-40B4-BE49-F238E27FC236}">
                <a16:creationId xmlns:a16="http://schemas.microsoft.com/office/drawing/2014/main" id="{5BBB298F-1C78-4CF1-633F-4F4D0C855BF5}"/>
              </a:ext>
            </a:extLst>
          </p:cNvPr>
          <p:cNvSpPr txBox="1"/>
          <p:nvPr/>
        </p:nvSpPr>
        <p:spPr>
          <a:xfrm>
            <a:off x="5197033" y="0"/>
            <a:ext cx="2155014" cy="369332"/>
          </a:xfrm>
          <a:prstGeom prst="rect">
            <a:avLst/>
          </a:prstGeom>
          <a:noFill/>
        </p:spPr>
        <p:txBody>
          <a:bodyPr wrap="none" rtlCol="0">
            <a:spAutoFit/>
          </a:bodyPr>
          <a:lstStyle/>
          <a:p>
            <a:r>
              <a:rPr lang="en-US" dirty="0">
                <a:highlight>
                  <a:srgbClr val="00FF00"/>
                </a:highlight>
              </a:rPr>
              <a:t>Recruiter Interface</a:t>
            </a:r>
            <a:endParaRPr lang="en-IN" dirty="0">
              <a:highlight>
                <a:srgbClr val="00FF00"/>
              </a:highlight>
            </a:endParaRPr>
          </a:p>
        </p:txBody>
      </p:sp>
    </p:spTree>
    <p:extLst>
      <p:ext uri="{BB962C8B-B14F-4D97-AF65-F5344CB8AC3E}">
        <p14:creationId xmlns:p14="http://schemas.microsoft.com/office/powerpoint/2010/main" val="1266418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Description automatically generated">
            <a:extLst>
              <a:ext uri="{FF2B5EF4-FFF2-40B4-BE49-F238E27FC236}">
                <a16:creationId xmlns:a16="http://schemas.microsoft.com/office/drawing/2014/main" id="{C26E356A-9187-9A16-792C-32347B796B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681" y="672391"/>
            <a:ext cx="10996638" cy="5832581"/>
          </a:xfrm>
          <a:prstGeom prst="rect">
            <a:avLst/>
          </a:prstGeom>
        </p:spPr>
      </p:pic>
      <p:sp>
        <p:nvSpPr>
          <p:cNvPr id="10" name="TextBox 9">
            <a:extLst>
              <a:ext uri="{FF2B5EF4-FFF2-40B4-BE49-F238E27FC236}">
                <a16:creationId xmlns:a16="http://schemas.microsoft.com/office/drawing/2014/main" id="{725BD0A1-EA08-0533-84E0-9F4070313D65}"/>
              </a:ext>
            </a:extLst>
          </p:cNvPr>
          <p:cNvSpPr txBox="1"/>
          <p:nvPr/>
        </p:nvSpPr>
        <p:spPr>
          <a:xfrm>
            <a:off x="4687747" y="127321"/>
            <a:ext cx="1704697" cy="369332"/>
          </a:xfrm>
          <a:prstGeom prst="rect">
            <a:avLst/>
          </a:prstGeom>
          <a:noFill/>
        </p:spPr>
        <p:txBody>
          <a:bodyPr wrap="none" rtlCol="0">
            <a:spAutoFit/>
          </a:bodyPr>
          <a:lstStyle/>
          <a:p>
            <a:r>
              <a:rPr lang="en-US" dirty="0">
                <a:highlight>
                  <a:srgbClr val="00FF00"/>
                </a:highlight>
              </a:rPr>
              <a:t>Manage Profile</a:t>
            </a:r>
            <a:endParaRPr lang="en-IN" dirty="0">
              <a:highlight>
                <a:srgbClr val="00FF00"/>
              </a:highlight>
            </a:endParaRPr>
          </a:p>
        </p:txBody>
      </p:sp>
    </p:spTree>
    <p:extLst>
      <p:ext uri="{BB962C8B-B14F-4D97-AF65-F5344CB8AC3E}">
        <p14:creationId xmlns:p14="http://schemas.microsoft.com/office/powerpoint/2010/main" val="2901593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7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D3B61-ACE6-36C7-C455-BE63C229E7AB}"/>
              </a:ext>
            </a:extLst>
          </p:cNvPr>
          <p:cNvSpPr>
            <a:spLocks noGrp="1"/>
          </p:cNvSpPr>
          <p:nvPr>
            <p:ph type="title"/>
          </p:nvPr>
        </p:nvSpPr>
        <p:spPr>
          <a:xfrm>
            <a:off x="1333502" y="609600"/>
            <a:ext cx="8596668" cy="1320800"/>
          </a:xfrm>
        </p:spPr>
        <p:txBody>
          <a:bodyPr vert="horz" lIns="91440" tIns="45720" rIns="91440" bIns="45720" rtlCol="0" anchor="t">
            <a:normAutofit/>
          </a:bodyPr>
          <a:lstStyle/>
          <a:p>
            <a:r>
              <a:rPr lang="en-US"/>
              <a:t>Future scope</a:t>
            </a:r>
          </a:p>
        </p:txBody>
      </p:sp>
      <p:sp>
        <p:nvSpPr>
          <p:cNvPr id="3" name="Rectangle 1">
            <a:extLst>
              <a:ext uri="{FF2B5EF4-FFF2-40B4-BE49-F238E27FC236}">
                <a16:creationId xmlns:a16="http://schemas.microsoft.com/office/drawing/2014/main" id="{4B1D622D-2F8E-E17C-13BC-D13CC432C952}"/>
              </a:ext>
            </a:extLst>
          </p:cNvPr>
          <p:cNvSpPr>
            <a:spLocks noChangeArrowheads="1"/>
          </p:cNvSpPr>
          <p:nvPr/>
        </p:nvSpPr>
        <p:spPr bwMode="auto">
          <a:xfrm>
            <a:off x="1333502" y="2160590"/>
            <a:ext cx="8470898" cy="34292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indent="0" algn="just" fontAlgn="base">
              <a:spcBef>
                <a:spcPts val="1000"/>
              </a:spcBef>
              <a:buClr>
                <a:schemeClr val="accent1"/>
              </a:buClr>
              <a:buSzPct val="80000"/>
              <a:buFont typeface="Wingdings 3" charset="2"/>
              <a:buChar char=""/>
              <a:tabLst/>
            </a:pPr>
            <a:r>
              <a:rPr kumimoji="0" lang="en-US" altLang="en-US" i="0" u="none" strike="noStrike" cap="none" normalizeH="0" baseline="0" dirty="0">
                <a:ln>
                  <a:noFill/>
                </a:ln>
                <a:solidFill>
                  <a:schemeClr val="tx1">
                    <a:lumMod val="75000"/>
                    <a:lumOff val="25000"/>
                  </a:schemeClr>
                </a:solidFill>
                <a:effectLst/>
              </a:rPr>
              <a:t>Video Interview Integration</a:t>
            </a:r>
          </a:p>
          <a:p>
            <a:pPr marL="0" marR="0" lvl="0" indent="0" algn="just" fontAlgn="base">
              <a:spcBef>
                <a:spcPts val="1000"/>
              </a:spcBef>
              <a:buClr>
                <a:schemeClr val="accent1"/>
              </a:buClr>
              <a:buSzPct val="80000"/>
              <a:buFont typeface="Wingdings 3" charset="2"/>
              <a:buChar char=""/>
              <a:tabLst/>
            </a:pPr>
            <a:r>
              <a:rPr lang="en-US" dirty="0">
                <a:solidFill>
                  <a:schemeClr val="tx1">
                    <a:lumMod val="75000"/>
                    <a:lumOff val="25000"/>
                  </a:schemeClr>
                </a:solidFill>
              </a:rPr>
              <a:t>Skill Assessment and Certification Integration</a:t>
            </a:r>
          </a:p>
          <a:p>
            <a:pPr marL="0" marR="0" lvl="0" indent="0" algn="just" fontAlgn="base">
              <a:spcBef>
                <a:spcPts val="1000"/>
              </a:spcBef>
              <a:buClr>
                <a:schemeClr val="accent1"/>
              </a:buClr>
              <a:buSzPct val="80000"/>
              <a:buFont typeface="Wingdings 3" charset="2"/>
              <a:buChar char=""/>
              <a:tabLst/>
            </a:pPr>
            <a:r>
              <a:rPr lang="en-US" dirty="0">
                <a:solidFill>
                  <a:schemeClr val="tx1">
                    <a:lumMod val="75000"/>
                    <a:lumOff val="25000"/>
                  </a:schemeClr>
                </a:solidFill>
              </a:rPr>
              <a:t>Internship and Training Program Listings</a:t>
            </a:r>
          </a:p>
          <a:p>
            <a:pPr marL="0" marR="0" lvl="0" indent="0" algn="just" fontAlgn="base">
              <a:spcBef>
                <a:spcPts val="1000"/>
              </a:spcBef>
              <a:buClr>
                <a:schemeClr val="accent1"/>
              </a:buClr>
              <a:buSzPct val="80000"/>
              <a:buFont typeface="Wingdings 3" charset="2"/>
              <a:buChar char=""/>
              <a:tabLst/>
            </a:pPr>
            <a:r>
              <a:rPr lang="en-US" dirty="0">
                <a:solidFill>
                  <a:schemeClr val="tx1">
                    <a:lumMod val="75000"/>
                    <a:lumOff val="25000"/>
                  </a:schemeClr>
                </a:solidFill>
              </a:rPr>
              <a:t>Smart AI-Based Negotiation Assistance for Job Offers</a:t>
            </a:r>
          </a:p>
          <a:p>
            <a:pPr marL="0" marR="0" lvl="0" indent="0" algn="just" fontAlgn="base">
              <a:spcBef>
                <a:spcPts val="1000"/>
              </a:spcBef>
              <a:buClr>
                <a:schemeClr val="accent1"/>
              </a:buClr>
              <a:buSzPct val="80000"/>
              <a:buFont typeface="Wingdings 3" charset="2"/>
              <a:buChar char=""/>
              <a:tabLst/>
            </a:pPr>
            <a:r>
              <a:rPr lang="en-US" dirty="0">
                <a:solidFill>
                  <a:schemeClr val="tx1">
                    <a:lumMod val="75000"/>
                    <a:lumOff val="25000"/>
                  </a:schemeClr>
                </a:solidFill>
              </a:rPr>
              <a:t>Automated Job Alerts for Candidates</a:t>
            </a:r>
          </a:p>
          <a:p>
            <a:pPr marL="0" marR="0" lvl="0" indent="0" algn="just" fontAlgn="base">
              <a:spcBef>
                <a:spcPts val="1000"/>
              </a:spcBef>
              <a:buClr>
                <a:schemeClr val="accent1"/>
              </a:buClr>
              <a:buSzPct val="80000"/>
              <a:buFont typeface="Wingdings 3" charset="2"/>
              <a:buChar char=""/>
              <a:tabLst/>
            </a:pPr>
            <a:endParaRPr kumimoji="0" lang="en-US" altLang="en-US" i="0" u="none" strike="noStrike" cap="none" normalizeH="0" baseline="0" dirty="0">
              <a:ln>
                <a:noFill/>
              </a:ln>
              <a:solidFill>
                <a:schemeClr val="tx1">
                  <a:lumMod val="75000"/>
                  <a:lumOff val="25000"/>
                </a:schemeClr>
              </a:solidFill>
              <a:effectLst/>
            </a:endParaRPr>
          </a:p>
          <a:p>
            <a:pPr marL="0" marR="0" lvl="0" indent="0" fontAlgn="base">
              <a:spcBef>
                <a:spcPts val="1000"/>
              </a:spcBef>
              <a:buClr>
                <a:schemeClr val="accent1"/>
              </a:buClr>
              <a:buSzPct val="80000"/>
              <a:buFont typeface="Wingdings 3" charset="2"/>
              <a:buChar char=""/>
              <a:tabLst/>
            </a:pPr>
            <a:endParaRPr kumimoji="0" lang="en-US" altLang="en-US" b="0" i="0" u="none" strike="noStrike" cap="none" normalizeH="0" baseline="0" dirty="0">
              <a:ln>
                <a:noFill/>
              </a:ln>
              <a:solidFill>
                <a:schemeClr val="tx1">
                  <a:lumMod val="75000"/>
                  <a:lumOff val="25000"/>
                </a:schemeClr>
              </a:solidFill>
              <a:effectLst/>
            </a:endParaRPr>
          </a:p>
        </p:txBody>
      </p:sp>
    </p:spTree>
    <p:extLst>
      <p:ext uri="{BB962C8B-B14F-4D97-AF65-F5344CB8AC3E}">
        <p14:creationId xmlns:p14="http://schemas.microsoft.com/office/powerpoint/2010/main" val="604675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564D6-7B85-99FF-D396-0D9234ADE0A8}"/>
              </a:ext>
            </a:extLst>
          </p:cNvPr>
          <p:cNvSpPr>
            <a:spLocks noGrp="1"/>
          </p:cNvSpPr>
          <p:nvPr>
            <p:ph type="title"/>
          </p:nvPr>
        </p:nvSpPr>
        <p:spPr>
          <a:xfrm>
            <a:off x="677333" y="609600"/>
            <a:ext cx="5752964" cy="1320800"/>
          </a:xfrm>
        </p:spPr>
        <p:txBody>
          <a:bodyPr>
            <a:normAutofit/>
          </a:bodyPr>
          <a:lstStyle/>
          <a:p>
            <a:r>
              <a:rPr lang="en-IN" sz="1800" dirty="0">
                <a:latin typeface="Roboto" panose="02000000000000000000" pitchFamily="2" charset="0"/>
                <a:ea typeface="Roboto" panose="02000000000000000000" pitchFamily="2" charset="0"/>
                <a:cs typeface="Roboto" panose="02000000000000000000" pitchFamily="2" charset="0"/>
              </a:rPr>
              <a:t>Candidate Sign Up / Login</a:t>
            </a:r>
          </a:p>
        </p:txBody>
      </p:sp>
      <p:sp>
        <p:nvSpPr>
          <p:cNvPr id="3" name="Content Placeholder 2">
            <a:extLst>
              <a:ext uri="{FF2B5EF4-FFF2-40B4-BE49-F238E27FC236}">
                <a16:creationId xmlns:a16="http://schemas.microsoft.com/office/drawing/2014/main" id="{6669C48D-6106-7CBA-2F59-4545F6FE5BC7}"/>
              </a:ext>
            </a:extLst>
          </p:cNvPr>
          <p:cNvSpPr>
            <a:spLocks noGrp="1"/>
          </p:cNvSpPr>
          <p:nvPr>
            <p:ph idx="1"/>
          </p:nvPr>
        </p:nvSpPr>
        <p:spPr>
          <a:xfrm>
            <a:off x="510186" y="1659144"/>
            <a:ext cx="8596668" cy="3880773"/>
          </a:xfrm>
        </p:spPr>
        <p:txBody>
          <a:bodyPr/>
          <a:lstStyle/>
          <a:p>
            <a:pPr algn="just">
              <a:lnSpc>
                <a:spcPct val="150000"/>
              </a:lnSpc>
              <a:buFont typeface="Courier New" panose="02070309020205020404" pitchFamily="49" charset="0"/>
              <a:buChar char="o"/>
            </a:pPr>
            <a:r>
              <a:rPr lang="en-US" dirty="0">
                <a:latin typeface="Roboto" panose="02000000000000000000" pitchFamily="2" charset="0"/>
                <a:ea typeface="Roboto" panose="02000000000000000000" pitchFamily="2" charset="0"/>
                <a:cs typeface="Roboto" panose="02000000000000000000" pitchFamily="2" charset="0"/>
              </a:rPr>
              <a:t>Open the job portal homepage.</a:t>
            </a:r>
          </a:p>
          <a:p>
            <a:pPr algn="just">
              <a:lnSpc>
                <a:spcPct val="150000"/>
              </a:lnSpc>
              <a:buFont typeface="Courier New" panose="02070309020205020404" pitchFamily="49" charset="0"/>
              <a:buChar char="o"/>
            </a:pPr>
            <a:r>
              <a:rPr lang="en-US" dirty="0">
                <a:latin typeface="Roboto" panose="02000000000000000000" pitchFamily="2" charset="0"/>
                <a:ea typeface="Roboto" panose="02000000000000000000" pitchFamily="2" charset="0"/>
                <a:cs typeface="Roboto" panose="02000000000000000000" pitchFamily="2" charset="0"/>
              </a:rPr>
              <a:t>Click on “Sign Up”.</a:t>
            </a:r>
          </a:p>
          <a:p>
            <a:pPr algn="just">
              <a:lnSpc>
                <a:spcPct val="150000"/>
              </a:lnSpc>
              <a:buFont typeface="Courier New" panose="02070309020205020404" pitchFamily="49" charset="0"/>
              <a:buChar char="o"/>
            </a:pPr>
            <a:r>
              <a:rPr lang="en-US" dirty="0">
                <a:latin typeface="Roboto" panose="02000000000000000000" pitchFamily="2" charset="0"/>
                <a:ea typeface="Roboto" panose="02000000000000000000" pitchFamily="2" charset="0"/>
                <a:cs typeface="Roboto" panose="02000000000000000000" pitchFamily="2" charset="0"/>
              </a:rPr>
              <a:t>Enter required details (name, email, password).</a:t>
            </a:r>
          </a:p>
          <a:p>
            <a:pPr algn="just">
              <a:lnSpc>
                <a:spcPct val="150000"/>
              </a:lnSpc>
              <a:buFont typeface="Courier New" panose="02070309020205020404" pitchFamily="49" charset="0"/>
              <a:buChar char="o"/>
            </a:pPr>
            <a:r>
              <a:rPr lang="en-US" dirty="0">
                <a:latin typeface="Roboto" panose="02000000000000000000" pitchFamily="2" charset="0"/>
                <a:ea typeface="Roboto" panose="02000000000000000000" pitchFamily="2" charset="0"/>
                <a:cs typeface="Roboto" panose="02000000000000000000" pitchFamily="2" charset="0"/>
              </a:rPr>
              <a:t>Click “Register” to create an account.</a:t>
            </a:r>
          </a:p>
          <a:p>
            <a:pPr algn="just">
              <a:lnSpc>
                <a:spcPct val="150000"/>
              </a:lnSpc>
              <a:buFont typeface="Courier New" panose="02070309020205020404" pitchFamily="49" charset="0"/>
              <a:buChar char="o"/>
            </a:pPr>
            <a:r>
              <a:rPr lang="en-US" dirty="0">
                <a:latin typeface="Roboto" panose="02000000000000000000" pitchFamily="2" charset="0"/>
                <a:ea typeface="Roboto" panose="02000000000000000000" pitchFamily="2" charset="0"/>
                <a:cs typeface="Roboto" panose="02000000000000000000" pitchFamily="2" charset="0"/>
              </a:rPr>
              <a:t>For login, enter email and password and click “Login”.</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B8A028F9-C4E0-872B-760C-F13659A5377A}"/>
              </a:ext>
            </a:extLst>
          </p:cNvPr>
          <p:cNvSpPr txBox="1"/>
          <p:nvPr/>
        </p:nvSpPr>
        <p:spPr>
          <a:xfrm>
            <a:off x="7398774" y="978310"/>
            <a:ext cx="184731" cy="369332"/>
          </a:xfrm>
          <a:prstGeom prst="rect">
            <a:avLst/>
          </a:prstGeom>
          <a:noFill/>
        </p:spPr>
        <p:txBody>
          <a:bodyPr wrap="none" rtlCol="0">
            <a:spAutoFit/>
          </a:bodyPr>
          <a:lstStyle/>
          <a:p>
            <a:endParaRPr lang="en-IN" dirty="0"/>
          </a:p>
        </p:txBody>
      </p:sp>
      <p:sp>
        <p:nvSpPr>
          <p:cNvPr id="6" name="TextBox 5">
            <a:extLst>
              <a:ext uri="{FF2B5EF4-FFF2-40B4-BE49-F238E27FC236}">
                <a16:creationId xmlns:a16="http://schemas.microsoft.com/office/drawing/2014/main" id="{46FB8BF1-71BD-061F-043E-2516BD117654}"/>
              </a:ext>
            </a:extLst>
          </p:cNvPr>
          <p:cNvSpPr txBox="1"/>
          <p:nvPr/>
        </p:nvSpPr>
        <p:spPr>
          <a:xfrm>
            <a:off x="6058581" y="391736"/>
            <a:ext cx="2560316" cy="646331"/>
          </a:xfrm>
          <a:prstGeom prst="rect">
            <a:avLst/>
          </a:prstGeom>
          <a:noFill/>
        </p:spPr>
        <p:txBody>
          <a:bodyPr wrap="none" rtlCol="0">
            <a:spAutoFit/>
          </a:bodyPr>
          <a:lstStyle/>
          <a:p>
            <a:pPr algn="l"/>
            <a:endParaRPr lang="en-IN" sz="1800" b="0" i="0" u="none" strike="noStrike" baseline="0" dirty="0">
              <a:solidFill>
                <a:srgbClr val="000000"/>
              </a:solidFill>
              <a:latin typeface="Times New Roman" panose="02020603050405020304" pitchFamily="18" charset="0"/>
            </a:endParaRPr>
          </a:p>
          <a:p>
            <a:r>
              <a:rPr lang="en-IN" sz="1800" i="0" u="none" strike="noStrike" baseline="0" dirty="0">
                <a:solidFill>
                  <a:schemeClr val="accent1"/>
                </a:solidFill>
                <a:latin typeface="Roboto" panose="02000000000000000000" pitchFamily="2" charset="0"/>
                <a:ea typeface="Roboto" panose="02000000000000000000" pitchFamily="2" charset="0"/>
                <a:cs typeface="Roboto" panose="02000000000000000000" pitchFamily="2" charset="0"/>
              </a:rPr>
              <a:t> Edit Candidate Profile </a:t>
            </a:r>
            <a:endParaRPr lang="en-IN"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01A8351C-F244-D518-542B-20E00E67124B}"/>
              </a:ext>
            </a:extLst>
          </p:cNvPr>
          <p:cNvSpPr txBox="1"/>
          <p:nvPr/>
        </p:nvSpPr>
        <p:spPr>
          <a:xfrm>
            <a:off x="6430297" y="1697397"/>
            <a:ext cx="4770858" cy="1708160"/>
          </a:xfrm>
          <a:prstGeom prst="rect">
            <a:avLst/>
          </a:prstGeom>
          <a:noFill/>
        </p:spPr>
        <p:txBody>
          <a:bodyPr wrap="none" rtlCol="0">
            <a:spAutoFit/>
          </a:bodyPr>
          <a:lstStyle/>
          <a:p>
            <a:pPr marL="285750" indent="-285750" algn="just">
              <a:lnSpc>
                <a:spcPct val="15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Go to “My Profile”. </a:t>
            </a:r>
          </a:p>
          <a:p>
            <a:pPr marL="285750" indent="-285750" algn="just">
              <a:lnSpc>
                <a:spcPct val="15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Click on “Edit”. </a:t>
            </a:r>
          </a:p>
          <a:p>
            <a:pPr marL="285750" indent="-285750" algn="just">
              <a:lnSpc>
                <a:spcPct val="150000"/>
              </a:lnSpc>
              <a:buClr>
                <a:schemeClr val="accent1"/>
              </a:buClr>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Update information like name , email etc. </a:t>
            </a:r>
          </a:p>
          <a:p>
            <a:pPr marL="285750" indent="-285750" algn="just">
              <a:lnSpc>
                <a:spcPct val="15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Click “Save”. </a:t>
            </a:r>
          </a:p>
        </p:txBody>
      </p:sp>
    </p:spTree>
    <p:extLst>
      <p:ext uri="{BB962C8B-B14F-4D97-AF65-F5344CB8AC3E}">
        <p14:creationId xmlns:p14="http://schemas.microsoft.com/office/powerpoint/2010/main" val="41081150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EB9D7-066A-683B-6D01-A3A2900DE8E0}"/>
              </a:ext>
            </a:extLst>
          </p:cNvPr>
          <p:cNvSpPr>
            <a:spLocks noGrp="1"/>
          </p:cNvSpPr>
          <p:nvPr>
            <p:ph type="title"/>
          </p:nvPr>
        </p:nvSpPr>
        <p:spPr>
          <a:xfrm>
            <a:off x="403014" y="717869"/>
            <a:ext cx="8596668" cy="1320800"/>
          </a:xfrm>
        </p:spPr>
        <p:txBody>
          <a:bodyPr/>
          <a:lstStyle/>
          <a:p>
            <a:r>
              <a:rPr lang="en-IN" sz="1800" i="0" u="none" strike="noStrike" baseline="0" dirty="0">
                <a:latin typeface="Roboto" panose="02000000000000000000" pitchFamily="2" charset="0"/>
                <a:ea typeface="Roboto" panose="02000000000000000000" pitchFamily="2" charset="0"/>
                <a:cs typeface="Roboto" panose="02000000000000000000" pitchFamily="2" charset="0"/>
              </a:rPr>
              <a:t>Job Search and Filtering </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D468AB15-EA68-BA3E-88A4-7530BE162374}"/>
              </a:ext>
            </a:extLst>
          </p:cNvPr>
          <p:cNvSpPr>
            <a:spLocks noGrp="1"/>
          </p:cNvSpPr>
          <p:nvPr>
            <p:ph idx="1"/>
          </p:nvPr>
        </p:nvSpPr>
        <p:spPr>
          <a:xfrm>
            <a:off x="403014" y="1402080"/>
            <a:ext cx="4128053" cy="3856962"/>
          </a:xfrm>
        </p:spPr>
        <p:txBody>
          <a:bodyPr/>
          <a:lstStyle/>
          <a:p>
            <a:pPr algn="l">
              <a:lnSpc>
                <a:spcPct val="150000"/>
              </a:lnSpc>
              <a:buFont typeface="Courier New" panose="02070309020205020404" pitchFamily="49" charset="0"/>
              <a:buChar char="o"/>
            </a:pPr>
            <a:endPar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a:lnSpc>
                <a:spcPct val="150000"/>
              </a:lnSpc>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Navigate to “Search Jobs”. </a:t>
            </a:r>
          </a:p>
          <a:p>
            <a:pPr>
              <a:lnSpc>
                <a:spcPct val="150000"/>
              </a:lnSpc>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Enter keywords in search bar. </a:t>
            </a:r>
          </a:p>
          <a:p>
            <a:pPr>
              <a:lnSpc>
                <a:spcPct val="150000"/>
              </a:lnSpc>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Apply filters like location or company. </a:t>
            </a:r>
          </a:p>
          <a:p>
            <a:pPr>
              <a:lnSpc>
                <a:spcPct val="150000"/>
              </a:lnSpc>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View relevant job listings. </a:t>
            </a:r>
          </a:p>
          <a:p>
            <a:pPr>
              <a:lnSpc>
                <a:spcPct val="150000"/>
              </a:lnSpc>
            </a:pPr>
            <a:endPar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a:lnSpc>
                <a:spcPct val="150000"/>
              </a:lnSpc>
            </a:pP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4" name="TextBox 3">
            <a:extLst>
              <a:ext uri="{FF2B5EF4-FFF2-40B4-BE49-F238E27FC236}">
                <a16:creationId xmlns:a16="http://schemas.microsoft.com/office/drawing/2014/main" id="{E338358B-B5E5-ABFD-169B-2DAE02D55A28}"/>
              </a:ext>
            </a:extLst>
          </p:cNvPr>
          <p:cNvSpPr txBox="1"/>
          <p:nvPr/>
        </p:nvSpPr>
        <p:spPr>
          <a:xfrm>
            <a:off x="5778308" y="744858"/>
            <a:ext cx="1611339" cy="369332"/>
          </a:xfrm>
          <a:prstGeom prst="rect">
            <a:avLst/>
          </a:prstGeom>
          <a:noFill/>
        </p:spPr>
        <p:txBody>
          <a:bodyPr wrap="none" rtlCol="0">
            <a:spAutoFit/>
          </a:bodyPr>
          <a:lstStyle/>
          <a:p>
            <a:r>
              <a:rPr lang="en-IN" sz="1800" i="0" u="none" strike="noStrike" baseline="0" dirty="0">
                <a:solidFill>
                  <a:schemeClr val="accent1"/>
                </a:solidFill>
                <a:latin typeface="Roboto" panose="02000000000000000000" pitchFamily="2" charset="0"/>
                <a:ea typeface="Roboto" panose="02000000000000000000" pitchFamily="2" charset="0"/>
                <a:cs typeface="Roboto" panose="02000000000000000000" pitchFamily="2" charset="0"/>
              </a:rPr>
              <a:t>Apply for Job </a:t>
            </a:r>
            <a:endParaRPr lang="en-IN"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30257803-90D5-6F00-3B79-4B4F9744228B}"/>
              </a:ext>
            </a:extLst>
          </p:cNvPr>
          <p:cNvSpPr txBox="1"/>
          <p:nvPr/>
        </p:nvSpPr>
        <p:spPr>
          <a:xfrm>
            <a:off x="5778308" y="1233126"/>
            <a:ext cx="4538422" cy="3335528"/>
          </a:xfrm>
          <a:prstGeom prst="rect">
            <a:avLst/>
          </a:prstGeom>
          <a:noFill/>
        </p:spPr>
        <p:txBody>
          <a:bodyPr wrap="none" rtlCol="0">
            <a:spAutoFit/>
          </a:bodyPr>
          <a:lstStyle/>
          <a:p>
            <a:pPr marL="285750" indent="-285750" algn="l">
              <a:lnSpc>
                <a:spcPct val="200000"/>
              </a:lnSpc>
              <a:buClr>
                <a:schemeClr val="accent1"/>
              </a:buClr>
              <a:buFont typeface="Courier New" panose="02070309020205020404" pitchFamily="49" charset="0"/>
              <a:buChar char="o"/>
            </a:pPr>
            <a:endPar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285750" indent="-285750">
              <a:lnSpc>
                <a:spcPct val="20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Browse job listings. </a:t>
            </a:r>
          </a:p>
          <a:p>
            <a:pPr marL="285750" indent="-285750">
              <a:lnSpc>
                <a:spcPct val="20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Select a job. </a:t>
            </a:r>
          </a:p>
          <a:p>
            <a:pPr marL="285750" indent="-285750">
              <a:lnSpc>
                <a:spcPct val="20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Click “Apply”. </a:t>
            </a:r>
          </a:p>
          <a:p>
            <a:pPr marL="285750" indent="-285750">
              <a:lnSpc>
                <a:spcPct val="200000"/>
              </a:lnSpc>
              <a:buClr>
                <a:schemeClr val="accent1"/>
              </a:buClr>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Upload resume if not already uploaded. </a:t>
            </a:r>
          </a:p>
          <a:p>
            <a:pPr marL="285750" indent="-285750">
              <a:lnSpc>
                <a:spcPct val="20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Submit application. </a:t>
            </a:r>
          </a:p>
        </p:txBody>
      </p:sp>
    </p:spTree>
    <p:extLst>
      <p:ext uri="{BB962C8B-B14F-4D97-AF65-F5344CB8AC3E}">
        <p14:creationId xmlns:p14="http://schemas.microsoft.com/office/powerpoint/2010/main" val="3645664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5ECD4-666F-5825-4408-2D45A46A6C8D}"/>
              </a:ext>
            </a:extLst>
          </p:cNvPr>
          <p:cNvSpPr>
            <a:spLocks noGrp="1"/>
          </p:cNvSpPr>
          <p:nvPr>
            <p:ph type="title"/>
          </p:nvPr>
        </p:nvSpPr>
        <p:spPr/>
        <p:txBody>
          <a:bodyPr/>
          <a:lstStyle/>
          <a:p>
            <a:r>
              <a:rPr lang="en-IN" sz="1800" i="0" u="none" strike="noStrike" baseline="0" dirty="0">
                <a:latin typeface="Roboto" panose="02000000000000000000" pitchFamily="2" charset="0"/>
                <a:ea typeface="Roboto" panose="02000000000000000000" pitchFamily="2" charset="0"/>
                <a:cs typeface="Roboto" panose="02000000000000000000" pitchFamily="2" charset="0"/>
              </a:rPr>
              <a:t>Recruiter Sign Up / Login </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18710199-3FA8-1555-C8C4-66138FE5B5D0}"/>
              </a:ext>
            </a:extLst>
          </p:cNvPr>
          <p:cNvSpPr>
            <a:spLocks noGrp="1"/>
          </p:cNvSpPr>
          <p:nvPr>
            <p:ph idx="1"/>
          </p:nvPr>
        </p:nvSpPr>
        <p:spPr>
          <a:xfrm>
            <a:off x="514774" y="1270000"/>
            <a:ext cx="6272106" cy="3880773"/>
          </a:xfrm>
        </p:spPr>
        <p:txBody>
          <a:bodyPr/>
          <a:lstStyle/>
          <a:p>
            <a:pPr algn="l">
              <a:buFont typeface="Courier New" panose="02070309020205020404" pitchFamily="49" charset="0"/>
              <a:buChar char="o"/>
            </a:pPr>
            <a:endParaRPr lang="en-IN" sz="1800" b="0" i="0" u="none" strike="noStrike" baseline="0" dirty="0">
              <a:solidFill>
                <a:srgbClr val="000000"/>
              </a:solidFill>
              <a:latin typeface="Times New Roman" panose="02020603050405020304" pitchFamily="18" charset="0"/>
            </a:endParaRPr>
          </a:p>
          <a:p>
            <a:pPr>
              <a:lnSpc>
                <a:spcPct val="150000"/>
              </a:lnSpc>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Open the portal. </a:t>
            </a:r>
          </a:p>
          <a:p>
            <a:pPr>
              <a:lnSpc>
                <a:spcPct val="150000"/>
              </a:lnSpc>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Click on “Recruiter Sign Up”. </a:t>
            </a:r>
          </a:p>
          <a:p>
            <a:pPr>
              <a:lnSpc>
                <a:spcPct val="150000"/>
              </a:lnSpc>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Fill in details (name, email, company, password). </a:t>
            </a:r>
          </a:p>
          <a:p>
            <a:pPr>
              <a:lnSpc>
                <a:spcPct val="150000"/>
              </a:lnSpc>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Click “Register”. </a:t>
            </a:r>
          </a:p>
          <a:p>
            <a:pPr>
              <a:lnSpc>
                <a:spcPct val="150000"/>
              </a:lnSpc>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Use credentials to log in. </a:t>
            </a:r>
          </a:p>
          <a:p>
            <a:pPr>
              <a:buFont typeface="Courier New" panose="02070309020205020404" pitchFamily="49" charset="0"/>
              <a:buChar char="o"/>
            </a:pPr>
            <a:endParaRPr lang="en-IN" sz="1800" b="0" i="0" u="none" strike="noStrike" baseline="0" dirty="0">
              <a:solidFill>
                <a:srgbClr val="000000"/>
              </a:solidFill>
              <a:latin typeface="Times New Roman" panose="02020603050405020304" pitchFamily="18" charset="0"/>
            </a:endParaRPr>
          </a:p>
          <a:p>
            <a:pPr>
              <a:buFont typeface="Courier New" panose="02070309020205020404" pitchFamily="49" charset="0"/>
              <a:buChar char="o"/>
            </a:pPr>
            <a:endParaRPr lang="en-IN" dirty="0"/>
          </a:p>
        </p:txBody>
      </p:sp>
      <p:sp>
        <p:nvSpPr>
          <p:cNvPr id="4" name="TextBox 3">
            <a:extLst>
              <a:ext uri="{FF2B5EF4-FFF2-40B4-BE49-F238E27FC236}">
                <a16:creationId xmlns:a16="http://schemas.microsoft.com/office/drawing/2014/main" id="{7BE6DF25-627F-2210-0D54-F57F755D8187}"/>
              </a:ext>
            </a:extLst>
          </p:cNvPr>
          <p:cNvSpPr txBox="1"/>
          <p:nvPr/>
        </p:nvSpPr>
        <p:spPr>
          <a:xfrm>
            <a:off x="7244080" y="609600"/>
            <a:ext cx="1345240" cy="369332"/>
          </a:xfrm>
          <a:prstGeom prst="rect">
            <a:avLst/>
          </a:prstGeom>
          <a:noFill/>
        </p:spPr>
        <p:txBody>
          <a:bodyPr wrap="none" rtlCol="0">
            <a:spAutoFit/>
          </a:bodyPr>
          <a:lstStyle/>
          <a:p>
            <a:r>
              <a:rPr lang="en-IN" sz="1800" i="0" u="none" strike="noStrike" baseline="0" dirty="0">
                <a:solidFill>
                  <a:schemeClr val="accent1"/>
                </a:solidFill>
                <a:latin typeface="Roboto" panose="02000000000000000000" pitchFamily="2" charset="0"/>
                <a:ea typeface="Roboto" panose="02000000000000000000" pitchFamily="2" charset="0"/>
                <a:cs typeface="Roboto" panose="02000000000000000000" pitchFamily="2" charset="0"/>
              </a:rPr>
              <a:t>Post a Job </a:t>
            </a:r>
            <a:endParaRPr lang="en-IN"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6E2793B4-2658-1942-ED22-C0E33020A48B}"/>
              </a:ext>
            </a:extLst>
          </p:cNvPr>
          <p:cNvSpPr txBox="1"/>
          <p:nvPr/>
        </p:nvSpPr>
        <p:spPr>
          <a:xfrm>
            <a:off x="7099810" y="1536851"/>
            <a:ext cx="5581977" cy="1673535"/>
          </a:xfrm>
          <a:prstGeom prst="rect">
            <a:avLst/>
          </a:prstGeom>
          <a:noFill/>
        </p:spPr>
        <p:txBody>
          <a:bodyPr wrap="none" rtlCol="0">
            <a:spAutoFit/>
          </a:bodyPr>
          <a:lstStyle/>
          <a:p>
            <a:pPr marL="285750" indent="-285750" algn="just">
              <a:lnSpc>
                <a:spcPct val="20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Navigate to “Post Job”. </a:t>
            </a:r>
          </a:p>
          <a:p>
            <a:pPr marL="285750" indent="-285750" algn="just">
              <a:lnSpc>
                <a:spcPct val="20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Enter job title, description, location, requirements. </a:t>
            </a:r>
          </a:p>
          <a:p>
            <a:pPr marL="285750" indent="-285750" algn="just">
              <a:lnSpc>
                <a:spcPct val="20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Click “Post Job”. </a:t>
            </a:r>
          </a:p>
        </p:txBody>
      </p:sp>
    </p:spTree>
    <p:extLst>
      <p:ext uri="{BB962C8B-B14F-4D97-AF65-F5344CB8AC3E}">
        <p14:creationId xmlns:p14="http://schemas.microsoft.com/office/powerpoint/2010/main" val="817155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96A26-EC00-3B34-A4CE-50B25812C1B1}"/>
              </a:ext>
            </a:extLst>
          </p:cNvPr>
          <p:cNvSpPr>
            <a:spLocks noGrp="1"/>
          </p:cNvSpPr>
          <p:nvPr>
            <p:ph type="title"/>
          </p:nvPr>
        </p:nvSpPr>
        <p:spPr>
          <a:xfrm>
            <a:off x="352869" y="422787"/>
            <a:ext cx="8596668" cy="1320800"/>
          </a:xfrm>
        </p:spPr>
        <p:txBody>
          <a:bodyPr/>
          <a:lstStyle/>
          <a:p>
            <a:r>
              <a:rPr lang="en-IN" dirty="0">
                <a:solidFill>
                  <a:schemeClr val="accent2"/>
                </a:solidFill>
              </a:rPr>
              <a:t>Conclusion</a:t>
            </a:r>
          </a:p>
        </p:txBody>
      </p:sp>
      <p:sp>
        <p:nvSpPr>
          <p:cNvPr id="3" name="Rectangle 1">
            <a:extLst>
              <a:ext uri="{FF2B5EF4-FFF2-40B4-BE49-F238E27FC236}">
                <a16:creationId xmlns:a16="http://schemas.microsoft.com/office/drawing/2014/main" id="{A4160699-D2AA-9113-F124-05B11F07C957}"/>
              </a:ext>
            </a:extLst>
          </p:cNvPr>
          <p:cNvSpPr>
            <a:spLocks noChangeArrowheads="1"/>
          </p:cNvSpPr>
          <p:nvPr/>
        </p:nvSpPr>
        <p:spPr bwMode="auto">
          <a:xfrm>
            <a:off x="770933" y="1425014"/>
            <a:ext cx="10138855"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The Job Portal System is a powerful platform that simplifies the hiring process for both candidates and recruiters. It enables candidates to search, apply for jobs, and manage their profiles efficiently, while recruiters can post jobs, review applications, and hire the right talent seamlessly.</a:t>
            </a:r>
          </a:p>
          <a:p>
            <a:pPr algn="just"/>
            <a:endParaRPr lang="en-US" dirty="0">
              <a:latin typeface="Calibri" panose="020F0502020204030204" pitchFamily="34" charset="0"/>
              <a:ea typeface="Calibri" panose="020F0502020204030204" pitchFamily="34" charset="0"/>
              <a:cs typeface="Calibri" panose="020F0502020204030204" pitchFamily="34" charset="0"/>
            </a:endParaRPr>
          </a:p>
          <a:p>
            <a:pPr algn="just"/>
            <a:r>
              <a:rPr lang="en-US" dirty="0">
                <a:latin typeface="Calibri" panose="020F0502020204030204" pitchFamily="34" charset="0"/>
                <a:ea typeface="Calibri" panose="020F0502020204030204" pitchFamily="34" charset="0"/>
                <a:cs typeface="Calibri" panose="020F0502020204030204" pitchFamily="34" charset="0"/>
              </a:rPr>
              <a:t>With features like resume uploads, job filtering, and application tracking, the system enhances the overall job search experience. Additionally, future enhancements like AI-powered recommendations, automated screening, and virtual interviews will further improve efficiency and accessibility.</a:t>
            </a:r>
          </a:p>
          <a:p>
            <a:pPr algn="just"/>
            <a:endParaRPr lang="en-US" dirty="0">
              <a:latin typeface="Calibri" panose="020F0502020204030204" pitchFamily="34" charset="0"/>
              <a:ea typeface="Calibri" panose="020F0502020204030204" pitchFamily="34" charset="0"/>
              <a:cs typeface="Calibri" panose="020F0502020204030204" pitchFamily="34" charset="0"/>
            </a:endParaRPr>
          </a:p>
          <a:p>
            <a:pPr algn="just"/>
            <a:r>
              <a:rPr lang="en-US" dirty="0">
                <a:latin typeface="Calibri" panose="020F0502020204030204" pitchFamily="34" charset="0"/>
                <a:ea typeface="Calibri" panose="020F0502020204030204" pitchFamily="34" charset="0"/>
                <a:cs typeface="Calibri" panose="020F0502020204030204" pitchFamily="34" charset="0"/>
              </a:rPr>
              <a:t>This project not only streamlines the recruitment process but also bridges the gap between job seekers and employers, making it a valuable solution for the modern job market.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579682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045D05-88C8-A645-0DCD-83CCD745A061}"/>
              </a:ext>
            </a:extLst>
          </p:cNvPr>
          <p:cNvSpPr txBox="1"/>
          <p:nvPr/>
        </p:nvSpPr>
        <p:spPr>
          <a:xfrm>
            <a:off x="2089580" y="2500103"/>
            <a:ext cx="6707784" cy="1181310"/>
          </a:xfrm>
          <a:prstGeom prst="rect">
            <a:avLst/>
          </a:prstGeom>
        </p:spPr>
        <p:txBody>
          <a:bodyPr vert="horz" lIns="91440" tIns="45720" rIns="91440" bIns="45720" rtlCol="0" anchor="b">
            <a:normAutofit fontScale="92500" lnSpcReduction="10000"/>
          </a:bodyPr>
          <a:lstStyle/>
          <a:p>
            <a:pPr>
              <a:spcBef>
                <a:spcPct val="0"/>
              </a:spcBef>
              <a:spcAft>
                <a:spcPts val="600"/>
              </a:spcAft>
            </a:pPr>
            <a:r>
              <a:rPr lang="en-US" sz="8000" kern="1200" dirty="0">
                <a:solidFill>
                  <a:schemeClr val="accent1"/>
                </a:solidFill>
                <a:latin typeface="+mj-lt"/>
                <a:ea typeface="+mj-ea"/>
                <a:cs typeface="+mj-cs"/>
              </a:rPr>
              <a:t>Thank You </a:t>
            </a:r>
          </a:p>
        </p:txBody>
      </p:sp>
    </p:spTree>
    <p:extLst>
      <p:ext uri="{BB962C8B-B14F-4D97-AF65-F5344CB8AC3E}">
        <p14:creationId xmlns:p14="http://schemas.microsoft.com/office/powerpoint/2010/main" val="2305286848"/>
      </p:ext>
    </p:extLst>
  </p:cSld>
  <p:clrMapOvr>
    <a:masterClrMapping/>
  </p:clrMapOvr>
</p:sld>
</file>

<file path=ppt/theme/theme1.xml><?xml version="1.0" encoding="utf-8"?>
<a:theme xmlns:a="http://schemas.openxmlformats.org/drawingml/2006/main" name="Face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837</TotalTime>
  <Words>757</Words>
  <Application>Microsoft Office PowerPoint</Application>
  <PresentationFormat>Widescreen</PresentationFormat>
  <Paragraphs>127</Paragraphs>
  <Slides>19</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Courier New</vt:lpstr>
      <vt:lpstr>Open Sans</vt:lpstr>
      <vt:lpstr>Roboto</vt:lpstr>
      <vt:lpstr>Times New Roman</vt:lpstr>
      <vt:lpstr>Trebuchet MS</vt:lpstr>
      <vt:lpstr>Wingdings 3</vt:lpstr>
      <vt:lpstr>Facet</vt:lpstr>
      <vt:lpstr>PowerPoint Presentation</vt:lpstr>
      <vt:lpstr>Contents</vt:lpstr>
      <vt:lpstr>INTRODUCTION </vt:lpstr>
      <vt:lpstr>OBJECTIVES</vt:lpstr>
      <vt:lpstr>Hardware and Software Requirements </vt:lpstr>
      <vt:lpstr>Technologies AND LANGUAGES </vt:lpstr>
      <vt:lpstr>Data flow diagram </vt:lpstr>
      <vt:lpstr>Er diagram </vt:lpstr>
      <vt:lpstr>Benefits </vt:lpstr>
      <vt:lpstr>Sign up or register page</vt:lpstr>
      <vt:lpstr>PowerPoint Presentation</vt:lpstr>
      <vt:lpstr>PowerPoint Presentation</vt:lpstr>
      <vt:lpstr>PowerPoint Presentation</vt:lpstr>
      <vt:lpstr>Future scope</vt:lpstr>
      <vt:lpstr>Candidate Sign Up / Login</vt:lpstr>
      <vt:lpstr>Job Search and Filtering </vt:lpstr>
      <vt:lpstr>Recruiter Sign Up / Login </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Ishwar Gandh</dc:creator>
  <cp:lastModifiedBy>Aditya Mane</cp:lastModifiedBy>
  <cp:revision>57</cp:revision>
  <dcterms:created xsi:type="dcterms:W3CDTF">2025-01-18T21:32:38Z</dcterms:created>
  <dcterms:modified xsi:type="dcterms:W3CDTF">2025-04-26T07:16:19Z</dcterms:modified>
</cp:coreProperties>
</file>