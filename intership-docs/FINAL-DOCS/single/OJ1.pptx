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1" r:id="rId1"/>
  </p:sldMasterIdLst>
  <p:sldIdLst>
    <p:sldId id="256" r:id="rId2"/>
    <p:sldId id="257" r:id="rId3"/>
    <p:sldId id="267" r:id="rId4"/>
    <p:sldId id="258" r:id="rId5"/>
    <p:sldId id="259" r:id="rId6"/>
    <p:sldId id="260" r:id="rId7"/>
    <p:sldId id="261" r:id="rId8"/>
    <p:sldId id="268" r:id="rId9"/>
    <p:sldId id="262" r:id="rId10"/>
    <p:sldId id="270" r:id="rId11"/>
    <p:sldId id="271" r:id="rId12"/>
    <p:sldId id="263" r:id="rId13"/>
    <p:sldId id="264" r:id="rId14"/>
    <p:sldId id="272" r:id="rId15"/>
    <p:sldId id="273" r:id="rId16"/>
    <p:sldId id="274" r:id="rId17"/>
    <p:sldId id="275" r:id="rId18"/>
    <p:sldId id="265" r:id="rId19"/>
    <p:sldId id="26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31" autoAdjust="0"/>
    <p:restoredTop sz="94660"/>
  </p:normalViewPr>
  <p:slideViewPr>
    <p:cSldViewPr snapToGrid="0">
      <p:cViewPr varScale="1">
        <p:scale>
          <a:sx n="75" d="100"/>
          <a:sy n="75" d="100"/>
        </p:scale>
        <p:origin x="854" y="3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3048000" y="3124200"/>
            <a:ext cx="82296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48000" y="5003322"/>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733828" y="1110597"/>
            <a:ext cx="2286000" cy="508000"/>
          </a:xfrm>
        </p:spPr>
        <p:txBody>
          <a:bodyPr/>
          <a:lstStyle/>
          <a:p>
            <a:fld id="{FA1D9EF7-8F66-4C39-8A67-0D4C3F8C1A8D}" type="datetimeFigureOut">
              <a:rPr lang="en-US" smtClean="0"/>
              <a:pPr/>
              <a:t>4/26/2025</a:t>
            </a:fld>
            <a:endParaRPr lang="en-US"/>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US"/>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767392" y="4928702"/>
            <a:ext cx="812800" cy="517524"/>
          </a:xfrm>
        </p:spPr>
        <p:txBody>
          <a:bodyPr/>
          <a:lstStyle/>
          <a:p>
            <a:fld id="{8947D26B-4009-44F8-A306-8C70ED8BCF3C}"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FA1D9EF7-8F66-4C39-8A67-0D4C3F8C1A8D}" type="datetimeFigureOut">
              <a:rPr lang="en-US" smtClean="0"/>
              <a:pPr/>
              <a:t>4/26/2025</a:t>
            </a:fld>
            <a:endParaRPr lang="en-US"/>
          </a:p>
        </p:txBody>
      </p:sp>
      <p:sp>
        <p:nvSpPr>
          <p:cNvPr id="9" name="Slide Number Placeholder 8"/>
          <p:cNvSpPr>
            <a:spLocks noGrp="1"/>
          </p:cNvSpPr>
          <p:nvPr>
            <p:ph type="sldNum" sz="quarter" idx="15"/>
          </p:nvPr>
        </p:nvSpPr>
        <p:spPr/>
        <p:txBody>
          <a:bodyPr rtlCol="0"/>
          <a:lstStyle/>
          <a:p>
            <a:fld id="{8947D26B-4009-44F8-A306-8C70ED8BCF3C}"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48000" y="2895600"/>
            <a:ext cx="82296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3048000" y="5010150"/>
            <a:ext cx="82296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fld id="{FA1D9EF7-8F66-4C39-8A67-0D4C3F8C1A8D}" type="datetimeFigureOut">
              <a:rPr lang="en-US" smtClean="0"/>
              <a:pPr/>
              <a:t>4/26/2025</a:t>
            </a:fld>
            <a:endParaRPr lang="en-US"/>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US"/>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787488" y="4928702"/>
            <a:ext cx="812800" cy="517524"/>
          </a:xfrm>
        </p:spPr>
        <p:txBody>
          <a:bodyPr/>
          <a:lstStyle/>
          <a:p>
            <a:fld id="{8947D26B-4009-44F8-A306-8C70ED8BCF3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FA1D9EF7-8F66-4C39-8A67-0D4C3F8C1A8D}"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47D26B-4009-44F8-A306-8C70ED8BCF3C}" type="slidenum">
              <a:rPr lang="en-US" smtClean="0"/>
              <a:pPr/>
              <a:t>‹#›</a:t>
            </a:fld>
            <a:endParaRPr lang="en-US"/>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FA1D9EF7-8F66-4C39-8A67-0D4C3F8C1A8D}" type="datetimeFigureOut">
              <a:rPr lang="en-US" smtClean="0"/>
              <a:pPr/>
              <a:t>4/26/2025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47D26B-4009-44F8-A306-8C70ED8BCF3C}" type="slidenum">
              <a:rPr lang="en-US" smtClean="0"/>
              <a:pPr/>
              <a:t>‹#›</a:t>
            </a:fld>
            <a:endParaRPr lang="en-US"/>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FA1D9EF7-8F66-4C39-8A67-0D4C3F8C1A8D}" type="datetimeFigureOut">
              <a:rPr lang="en-US" smtClean="0"/>
              <a:pPr/>
              <a:t>4/26/2025</a:t>
            </a:fld>
            <a:endParaRPr lang="en-US"/>
          </a:p>
        </p:txBody>
      </p:sp>
      <p:sp>
        <p:nvSpPr>
          <p:cNvPr id="7" name="Slide Number Placeholder 6"/>
          <p:cNvSpPr>
            <a:spLocks noGrp="1"/>
          </p:cNvSpPr>
          <p:nvPr>
            <p:ph type="sldNum" sz="quarter" idx="11"/>
          </p:nvPr>
        </p:nvSpPr>
        <p:spPr/>
        <p:txBody>
          <a:bodyPr rtlCol="0"/>
          <a:lstStyle/>
          <a:p>
            <a:fld id="{8947D26B-4009-44F8-A306-8C70ED8BCF3C}"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1D9EF7-8F66-4C39-8A67-0D4C3F8C1A8D}" type="datetimeFigureOut">
              <a:rPr lang="en-US" smtClean="0"/>
              <a:pPr/>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47D26B-4009-44F8-A306-8C70ED8BCF3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FA1D9EF7-8F66-4C39-8A67-0D4C3F8C1A8D}" type="datetimeFigureOut">
              <a:rPr lang="en-US" smtClean="0"/>
              <a:pPr/>
              <a:t>4/26/2025</a:t>
            </a:fld>
            <a:endParaRPr lang="en-US"/>
          </a:p>
        </p:txBody>
      </p:sp>
      <p:sp>
        <p:nvSpPr>
          <p:cNvPr id="22" name="Slide Number Placeholder 21"/>
          <p:cNvSpPr>
            <a:spLocks noGrp="1"/>
          </p:cNvSpPr>
          <p:nvPr>
            <p:ph type="sldNum" sz="quarter" idx="15"/>
          </p:nvPr>
        </p:nvSpPr>
        <p:spPr/>
        <p:txBody>
          <a:bodyPr rtlCol="0"/>
          <a:lstStyle/>
          <a:p>
            <a:fld id="{8947D26B-4009-44F8-A306-8C70ED8BCF3C}"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FA1D9EF7-8F66-4C39-8A67-0D4C3F8C1A8D}" type="datetimeFigureOut">
              <a:rPr lang="en-US" smtClean="0"/>
              <a:pPr/>
              <a:t>4/26/2025</a:t>
            </a:fld>
            <a:endParaRPr lang="en-US"/>
          </a:p>
        </p:txBody>
      </p:sp>
      <p:sp>
        <p:nvSpPr>
          <p:cNvPr id="18" name="Slide Number Placeholder 17"/>
          <p:cNvSpPr>
            <a:spLocks noGrp="1"/>
          </p:cNvSpPr>
          <p:nvPr>
            <p:ph type="sldNum" sz="quarter" idx="11"/>
          </p:nvPr>
        </p:nvSpPr>
        <p:spPr/>
        <p:txBody>
          <a:bodyPr rtlCol="0"/>
          <a:lstStyle/>
          <a:p>
            <a:fld id="{8947D26B-4009-44F8-A306-8C70ED8BCF3C}"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A1D9EF7-8F66-4C39-8A67-0D4C3F8C1A8D}"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47D26B-4009-44F8-A306-8C70ED8BCF3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A1D9EF7-8F66-4C39-8A67-0D4C3F8C1A8D}"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47D26B-4009-44F8-A306-8C70ED8BCF3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609600" y="1600200"/>
            <a:ext cx="99568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anchor="ctr" anchorCtr="0"/>
          <a:lstStyle>
            <a:lvl1pPr algn="r" eaLnBrk="1" latinLnBrk="0" hangingPunct="1">
              <a:defRPr kumimoji="0" sz="1200">
                <a:solidFill>
                  <a:schemeClr val="tx2"/>
                </a:solidFill>
              </a:defRPr>
            </a:lvl1pPr>
          </a:lstStyle>
          <a:p>
            <a:fld id="{FA1D9EF7-8F66-4C39-8A67-0D4C3F8C1A8D}" type="datetimeFigureOut">
              <a:rPr lang="en-US" smtClean="0"/>
              <a:pPr/>
              <a:t>4/26/2025</a:t>
            </a:fld>
            <a:endParaRPr lang="en-US"/>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10838688" y="5734050"/>
            <a:ext cx="812800" cy="521208"/>
          </a:xfrm>
          <a:prstGeom prst="rect">
            <a:avLst/>
          </a:prstGeom>
        </p:spPr>
        <p:txBody>
          <a:bodyPr vert="horz" anchor="ctr"/>
          <a:lstStyle>
            <a:lvl1pPr algn="ctr" eaLnBrk="1" latinLnBrk="0" hangingPunct="1">
              <a:defRPr kumimoji="0" sz="1400" b="1">
                <a:solidFill>
                  <a:srgbClr val="FFFFFF"/>
                </a:solidFill>
              </a:defRPr>
            </a:lvl1pPr>
          </a:lstStyle>
          <a:p>
            <a:fld id="{8947D26B-4009-44F8-A306-8C70ED8BCF3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07C1B9-885A-A372-BC63-A644D1CD7759}"/>
              </a:ext>
            </a:extLst>
          </p:cNvPr>
          <p:cNvSpPr txBox="1"/>
          <p:nvPr/>
        </p:nvSpPr>
        <p:spPr>
          <a:xfrm>
            <a:off x="4" y="1133660"/>
            <a:ext cx="12436929" cy="7207807"/>
          </a:xfrm>
          <a:prstGeom prst="rect">
            <a:avLst/>
          </a:prstGeom>
          <a:noFill/>
        </p:spPr>
        <p:txBody>
          <a:bodyPr wrap="square">
            <a:spAutoFit/>
          </a:bodyPr>
          <a:lstStyle/>
          <a:p>
            <a:pPr algn="ctr"/>
            <a:r>
              <a:rPr lang="en-US" sz="1600" b="1" dirty="0"/>
              <a:t>KLE SOCIETY’S</a:t>
            </a:r>
          </a:p>
          <a:p>
            <a:pPr algn="ctr"/>
            <a:r>
              <a:rPr lang="en-US" sz="1600" b="1" dirty="0"/>
              <a:t>CHIDAND.B.KORE POLYTECHNINC, CHIKODI</a:t>
            </a:r>
          </a:p>
          <a:p>
            <a:pPr algn="ctr"/>
            <a:r>
              <a:rPr lang="en-US" sz="1600" b="1" dirty="0"/>
              <a:t>KARNATAKA 2024-2025</a:t>
            </a:r>
          </a:p>
          <a:p>
            <a:pPr algn="ctr"/>
            <a:endParaRPr lang="en-US" b="1" dirty="0"/>
          </a:p>
          <a:p>
            <a:pPr algn="ctr"/>
            <a:r>
              <a:rPr lang="en-US" sz="1600" dirty="0"/>
              <a:t>DEPARTMENT OF COMPUTER SICENCE &amp; ENGINEERING</a:t>
            </a:r>
          </a:p>
          <a:p>
            <a:pPr algn="ctr"/>
            <a:r>
              <a:rPr lang="en-US" sz="1600" dirty="0"/>
              <a:t>A SYNOPSIS REPORT ON</a:t>
            </a:r>
          </a:p>
          <a:p>
            <a:pPr algn="ctr"/>
            <a:r>
              <a:rPr lang="en-US" sz="1600" b="1" dirty="0"/>
              <a:t>“ONLINE BLOOD BANK MANAGEMENT”</a:t>
            </a:r>
          </a:p>
          <a:p>
            <a:pPr algn="ctr"/>
            <a:r>
              <a:rPr lang="en-US" sz="1600" dirty="0"/>
              <a:t>Submitted  for  partial  fulfillment  of  the  requirement  of  the  award  of  the</a:t>
            </a:r>
          </a:p>
          <a:p>
            <a:pPr algn="ctr"/>
            <a:r>
              <a:rPr lang="en-US" sz="1600" dirty="0"/>
              <a:t>DIPLOMA IN COMPUTER SCIENCE &amp; ENGINEERING UNDER THE GUIDENCE OF </a:t>
            </a:r>
          </a:p>
          <a:p>
            <a:pPr algn="ctr"/>
            <a:r>
              <a:rPr lang="en-US" sz="1600" b="1" dirty="0"/>
              <a:t>Miss . Sarita Khot (Lecturer)</a:t>
            </a:r>
          </a:p>
          <a:p>
            <a:pPr algn="ctr"/>
            <a:endParaRPr lang="en-US" sz="1600" dirty="0"/>
          </a:p>
          <a:p>
            <a:pPr algn="ctr"/>
            <a:r>
              <a:rPr lang="en-US" dirty="0"/>
              <a:t>A Project Synopsis</a:t>
            </a:r>
          </a:p>
          <a:p>
            <a:pPr algn="ctr"/>
            <a:r>
              <a:rPr lang="en-US" dirty="0"/>
              <a:t>By</a:t>
            </a:r>
            <a:endParaRPr lang="en-IN" dirty="0"/>
          </a:p>
          <a:p>
            <a:pPr algn="ctr"/>
            <a:r>
              <a:rPr lang="en-US" dirty="0"/>
              <a:t> </a:t>
            </a:r>
            <a:endParaRPr lang="en-US" dirty="0">
              <a:latin typeface="Arial Rounded MT Bold" pitchFamily="34" charset="0"/>
            </a:endParaRPr>
          </a:p>
          <a:p>
            <a:pPr marR="222250" algn="ctr">
              <a:spcAft>
                <a:spcPts val="800"/>
              </a:spcAft>
              <a:tabLst>
                <a:tab pos="3447415" algn="l"/>
              </a:tabLst>
            </a:pPr>
            <a:r>
              <a:rPr lang="en-IN" sz="1600" b="1" kern="100" spc="-35" dirty="0">
                <a:latin typeface="Times New Roman" panose="02020603050405020304" pitchFamily="18" charset="0"/>
                <a:ea typeface="Aptos" panose="020B0004020202020204" pitchFamily="34" charset="0"/>
                <a:cs typeface="Times New Roman" panose="02020603050405020304" pitchFamily="18" charset="0"/>
              </a:rPr>
              <a:t>    Adarsh Kokane</a:t>
            </a:r>
            <a:r>
              <a:rPr lang="en-IN" sz="16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1600" b="1" kern="100" spc="-10" dirty="0">
                <a:effectLst/>
                <a:latin typeface="Times New Roman" panose="02020603050405020304" pitchFamily="18" charset="0"/>
                <a:ea typeface="Aptos" panose="020B0004020202020204" pitchFamily="34" charset="0"/>
                <a:cs typeface="Times New Roman" panose="02020603050405020304" pitchFamily="18" charset="0"/>
              </a:rPr>
              <a:t>339CS22002</a:t>
            </a:r>
          </a:p>
          <a:p>
            <a:pPr marR="222250" algn="ctr">
              <a:spcAft>
                <a:spcPts val="800"/>
              </a:spcAft>
              <a:tabLst>
                <a:tab pos="3447415" algn="l"/>
              </a:tabLst>
            </a:pPr>
            <a:r>
              <a:rPr lang="en-IN" sz="1600" b="1" kern="100" dirty="0">
                <a:effectLst/>
                <a:latin typeface="Times New Roman" panose="02020603050405020304" pitchFamily="18" charset="0"/>
                <a:ea typeface="Aptos" panose="020B0004020202020204" pitchFamily="34" charset="0"/>
                <a:cs typeface="Times New Roman" panose="02020603050405020304" pitchFamily="18" charset="0"/>
              </a:rPr>
              <a:t>   Aditya Mane	</a:t>
            </a:r>
            <a:r>
              <a:rPr lang="en-IN" sz="1600" b="1" kern="100" spc="-10" dirty="0">
                <a:effectLst/>
                <a:latin typeface="Times New Roman" panose="02020603050405020304" pitchFamily="18" charset="0"/>
                <a:ea typeface="Aptos" panose="020B0004020202020204" pitchFamily="34" charset="0"/>
                <a:cs typeface="Times New Roman" panose="02020603050405020304" pitchFamily="18" charset="0"/>
              </a:rPr>
              <a:t>339CS22005</a:t>
            </a:r>
            <a:endParaRPr lang="en-IN" sz="1600" b="1" kern="100" spc="-10" dirty="0">
              <a:latin typeface="Times New Roman" panose="02020603050405020304" pitchFamily="18" charset="0"/>
              <a:ea typeface="Aptos" panose="020B0004020202020204" pitchFamily="34" charset="0"/>
              <a:cs typeface="Times New Roman" panose="02020603050405020304" pitchFamily="18" charset="0"/>
            </a:endParaRPr>
          </a:p>
          <a:p>
            <a:pPr marR="222250" algn="ctr">
              <a:spcAft>
                <a:spcPts val="800"/>
              </a:spcAft>
              <a:tabLst>
                <a:tab pos="3447415" algn="l"/>
              </a:tabLst>
            </a:pPr>
            <a:r>
              <a:rPr lang="en-IN" sz="1600" b="1" kern="100" dirty="0">
                <a:effectLst/>
                <a:latin typeface="Times New Roman" panose="02020603050405020304" pitchFamily="18" charset="0"/>
                <a:ea typeface="Aptos" panose="020B0004020202020204" pitchFamily="34" charset="0"/>
                <a:cs typeface="Times New Roman" panose="02020603050405020304" pitchFamily="18" charset="0"/>
              </a:rPr>
              <a:t>Prathamesh </a:t>
            </a:r>
            <a:r>
              <a:rPr lang="en-IN" sz="1600" b="1" kern="100" dirty="0" err="1">
                <a:effectLst/>
                <a:latin typeface="Times New Roman" panose="02020603050405020304" pitchFamily="18" charset="0"/>
                <a:ea typeface="Aptos" panose="020B0004020202020204" pitchFamily="34" charset="0"/>
                <a:cs typeface="Times New Roman" panose="02020603050405020304" pitchFamily="18" charset="0"/>
              </a:rPr>
              <a:t>Devarkar</a:t>
            </a:r>
            <a:r>
              <a:rPr lang="en-IN" sz="1600" b="1" kern="100" dirty="0">
                <a:effectLst/>
                <a:latin typeface="Times New Roman" panose="02020603050405020304" pitchFamily="18" charset="0"/>
                <a:ea typeface="Aptos" panose="020B0004020202020204" pitchFamily="34" charset="0"/>
                <a:cs typeface="Times New Roman" panose="02020603050405020304" pitchFamily="18" charset="0"/>
              </a:rPr>
              <a:t>                        339CS22001</a:t>
            </a:r>
          </a:p>
          <a:p>
            <a:pPr marR="222250" algn="ctr">
              <a:spcAft>
                <a:spcPts val="800"/>
              </a:spcAft>
              <a:tabLst>
                <a:tab pos="3447415" algn="l"/>
              </a:tabLst>
            </a:pPr>
            <a:r>
              <a:rPr lang="en-IN" sz="1600" b="1" kern="100" dirty="0">
                <a:latin typeface="Times New Roman" panose="02020603050405020304" pitchFamily="18" charset="0"/>
                <a:ea typeface="Aptos" panose="020B0004020202020204" pitchFamily="34" charset="0"/>
                <a:cs typeface="Times New Roman" panose="02020603050405020304" pitchFamily="18" charset="0"/>
              </a:rPr>
              <a:t>  Soham More</a:t>
            </a:r>
            <a:r>
              <a:rPr lang="en-IN" sz="1600" b="1" kern="100" dirty="0">
                <a:effectLst/>
                <a:latin typeface="Times New Roman" panose="02020603050405020304" pitchFamily="18" charset="0"/>
                <a:ea typeface="Aptos" panose="020B0004020202020204" pitchFamily="34" charset="0"/>
                <a:cs typeface="Times New Roman" panose="02020603050405020304" pitchFamily="18" charset="0"/>
              </a:rPr>
              <a:t>                                           339CS23705</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R="222250" algn="ctr">
              <a:spcAft>
                <a:spcPts val="800"/>
              </a:spcAft>
              <a:tabLst>
                <a:tab pos="3447415" algn="l"/>
              </a:tabLst>
            </a:pP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R="222250" algn="ctr">
              <a:spcAft>
                <a:spcPts val="800"/>
              </a:spcAft>
              <a:tabLst>
                <a:tab pos="3447415" algn="l"/>
              </a:tabLst>
            </a:pPr>
            <a:endParaRPr lang="en-IN" sz="1600" b="1" kern="100" spc="-10" dirty="0">
              <a:effectLst/>
              <a:latin typeface="Times New Roman" panose="02020603050405020304" pitchFamily="18" charset="0"/>
              <a:ea typeface="Aptos" panose="020B0004020202020204" pitchFamily="34" charset="0"/>
              <a:cs typeface="Times New Roman" panose="02020603050405020304" pitchFamily="18" charset="0"/>
            </a:endParaRPr>
          </a:p>
          <a:p>
            <a:pPr marR="222250" algn="ctr">
              <a:spcAft>
                <a:spcPts val="800"/>
              </a:spcAft>
              <a:tabLst>
                <a:tab pos="3447415" algn="l"/>
              </a:tabLst>
            </a:pPr>
            <a:endParaRPr lang="en-IN" sz="1600" b="1" kern="100" spc="-10" dirty="0">
              <a:effectLst/>
              <a:latin typeface="Times New Roman" panose="02020603050405020304" pitchFamily="18" charset="0"/>
              <a:ea typeface="Aptos" panose="020B0004020202020204" pitchFamily="34" charset="0"/>
              <a:cs typeface="Times New Roman" panose="02020603050405020304" pitchFamily="18" charset="0"/>
            </a:endParaRPr>
          </a:p>
          <a:p>
            <a:pPr marR="222250" algn="ctr">
              <a:spcAft>
                <a:spcPts val="800"/>
              </a:spcAft>
              <a:tabLst>
                <a:tab pos="3447415" algn="l"/>
              </a:tabLst>
            </a:pPr>
            <a:endParaRPr lang="en-US" dirty="0"/>
          </a:p>
          <a:p>
            <a:pPr marL="0" marR="222250" algn="ctr">
              <a:lnSpc>
                <a:spcPct val="115000"/>
              </a:lnSpc>
              <a:spcAft>
                <a:spcPts val="800"/>
              </a:spcAft>
              <a:tabLst>
                <a:tab pos="3447415" algn="l"/>
              </a:tabLst>
            </a:pPr>
            <a:endParaRPr lang="en-IN" sz="1800" b="1" kern="100" spc="-1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222250" algn="ctr">
              <a:lnSpc>
                <a:spcPct val="115000"/>
              </a:lnSpc>
              <a:spcAft>
                <a:spcPts val="800"/>
              </a:spcAft>
              <a:tabLst>
                <a:tab pos="3447415" algn="l"/>
              </a:tabLs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6" name="Picture 2" descr="C:\Users\skyak\OneDrive\Desktop\1506142159.jpg">
            <a:extLst>
              <a:ext uri="{FF2B5EF4-FFF2-40B4-BE49-F238E27FC236}">
                <a16:creationId xmlns:a16="http://schemas.microsoft.com/office/drawing/2014/main" id="{8EAFE24C-B1B9-3A61-12EF-CFD11DF9F46D}"/>
              </a:ext>
            </a:extLst>
          </p:cNvPr>
          <p:cNvPicPr>
            <a:picLocks noChangeAspect="1" noChangeArrowheads="1"/>
          </p:cNvPicPr>
          <p:nvPr/>
        </p:nvPicPr>
        <p:blipFill>
          <a:blip r:embed="rId2"/>
          <a:srcRect/>
          <a:stretch>
            <a:fillRect/>
          </a:stretch>
        </p:blipFill>
        <p:spPr bwMode="auto">
          <a:xfrm>
            <a:off x="5599173" y="129786"/>
            <a:ext cx="993663" cy="910847"/>
          </a:xfrm>
          <a:prstGeom prst="rect">
            <a:avLst/>
          </a:prstGeom>
        </p:spPr>
        <p:style>
          <a:lnRef idx="2">
            <a:schemeClr val="accent1">
              <a:shade val="50000"/>
            </a:schemeClr>
          </a:lnRef>
          <a:fillRef idx="1">
            <a:schemeClr val="accent1"/>
          </a:fillRef>
          <a:effectRef idx="0">
            <a:schemeClr val="accent1"/>
          </a:effectRef>
          <a:fontRef idx="minor">
            <a:schemeClr val="lt1"/>
          </a:fontRef>
        </p:style>
      </p:pic>
    </p:spTree>
    <p:extLst>
      <p:ext uri="{BB962C8B-B14F-4D97-AF65-F5344CB8AC3E}">
        <p14:creationId xmlns:p14="http://schemas.microsoft.com/office/powerpoint/2010/main" val="304924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E5A5C-EFEE-261E-8C61-F56C62D72F79}"/>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Contents</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E5C370-1568-01B0-FECE-8884EA158E93}"/>
              </a:ext>
            </a:extLst>
          </p:cNvPr>
          <p:cNvSpPr>
            <a:spLocks noGrp="1"/>
          </p:cNvSpPr>
          <p:nvPr>
            <p:ph sz="quarter" idx="1"/>
          </p:nvPr>
        </p:nvSpPr>
        <p:spPr/>
        <p:txBody>
          <a:bodyPr>
            <a:normAutofit/>
          </a:bodyPr>
          <a:lstStyle/>
          <a:p>
            <a:r>
              <a:rPr lang="en-US" sz="2000" dirty="0">
                <a:latin typeface="Times New Roman" pitchFamily="18" charset="0"/>
                <a:cs typeface="Times New Roman" pitchFamily="18" charset="0"/>
              </a:rPr>
              <a:t>Introduction</a:t>
            </a:r>
          </a:p>
          <a:p>
            <a:r>
              <a:rPr lang="en-US" sz="2000" dirty="0">
                <a:latin typeface="Times New Roman" pitchFamily="18" charset="0"/>
                <a:cs typeface="Times New Roman" pitchFamily="18" charset="0"/>
              </a:rPr>
              <a:t>Abstract</a:t>
            </a:r>
          </a:p>
          <a:p>
            <a:r>
              <a:rPr lang="en-US" sz="2000" dirty="0">
                <a:latin typeface="Times New Roman" pitchFamily="18" charset="0"/>
                <a:cs typeface="Times New Roman" pitchFamily="18" charset="0"/>
              </a:rPr>
              <a:t>Objective</a:t>
            </a:r>
          </a:p>
          <a:p>
            <a:r>
              <a:rPr lang="en-US" sz="2000" dirty="0">
                <a:latin typeface="Times New Roman" pitchFamily="18" charset="0"/>
                <a:cs typeface="Times New Roman" pitchFamily="18" charset="0"/>
              </a:rPr>
              <a:t>Advantages and Disadvantages</a:t>
            </a:r>
          </a:p>
          <a:p>
            <a:r>
              <a:rPr lang="en-US" sz="2000" dirty="0">
                <a:latin typeface="Times New Roman" pitchFamily="18" charset="0"/>
                <a:cs typeface="Times New Roman" pitchFamily="18" charset="0"/>
              </a:rPr>
              <a:t>Problem Statement</a:t>
            </a:r>
          </a:p>
          <a:p>
            <a:r>
              <a:rPr lang="en-US" sz="2000" dirty="0">
                <a:latin typeface="Times New Roman" pitchFamily="18" charset="0"/>
                <a:cs typeface="Times New Roman" pitchFamily="18" charset="0"/>
              </a:rPr>
              <a:t>Future Scope</a:t>
            </a:r>
          </a:p>
          <a:p>
            <a:r>
              <a:rPr lang="en-US" sz="2000" dirty="0">
                <a:latin typeface="Times New Roman" pitchFamily="18" charset="0"/>
                <a:cs typeface="Times New Roman" pitchFamily="18" charset="0"/>
              </a:rPr>
              <a:t>Use-Cases</a:t>
            </a:r>
          </a:p>
          <a:p>
            <a:r>
              <a:rPr lang="en-US" sz="2000" dirty="0">
                <a:latin typeface="Times New Roman" pitchFamily="18" charset="0"/>
                <a:cs typeface="Times New Roman" pitchFamily="18" charset="0"/>
              </a:rPr>
              <a:t>Use Case Diagram</a:t>
            </a:r>
          </a:p>
          <a:p>
            <a:r>
              <a:rPr lang="en-US" sz="2000" dirty="0">
                <a:latin typeface="Times New Roman" pitchFamily="18" charset="0"/>
                <a:cs typeface="Times New Roman" pitchFamily="18" charset="0"/>
              </a:rPr>
              <a:t>Data flow Diagram</a:t>
            </a:r>
          </a:p>
          <a:p>
            <a:r>
              <a:rPr lang="en-US" sz="2000" dirty="0">
                <a:latin typeface="Times New Roman" pitchFamily="18" charset="0"/>
                <a:cs typeface="Times New Roman" pitchFamily="18" charset="0"/>
              </a:rPr>
              <a:t>Screenshot Of Project</a:t>
            </a:r>
          </a:p>
          <a:p>
            <a:r>
              <a:rPr lang="en-US" sz="2000" dirty="0">
                <a:latin typeface="Times New Roman" pitchFamily="18" charset="0"/>
                <a:cs typeface="Times New Roman" pitchFamily="18" charset="0"/>
              </a:rPr>
              <a:t>Conclusion</a:t>
            </a:r>
          </a:p>
        </p:txBody>
      </p:sp>
    </p:spTree>
    <p:extLst>
      <p:ext uri="{BB962C8B-B14F-4D97-AF65-F5344CB8AC3E}">
        <p14:creationId xmlns:p14="http://schemas.microsoft.com/office/powerpoint/2010/main" val="1735638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br>
              <a:rPr lang="en-IN" dirty="0"/>
            </a:br>
            <a:r>
              <a:rPr lang="en-IN" dirty="0"/>
              <a:t>Introduction</a:t>
            </a:r>
          </a:p>
        </p:txBody>
      </p:sp>
      <p:sp>
        <p:nvSpPr>
          <p:cNvPr id="3" name="Content Placeholder 2"/>
          <p:cNvSpPr>
            <a:spLocks noGrp="1"/>
          </p:cNvSpPr>
          <p:nvPr>
            <p:ph sz="quarter" idx="1"/>
          </p:nvPr>
        </p:nvSpPr>
        <p:spPr/>
        <p:txBody>
          <a:bodyPr>
            <a:normAutofit/>
          </a:bodyPr>
          <a:lstStyle/>
          <a:p>
            <a:r>
              <a:rPr lang="en-IN" sz="2000" dirty="0">
                <a:latin typeface="Times New Roman" pitchFamily="18" charset="0"/>
                <a:cs typeface="Times New Roman" pitchFamily="18" charset="0"/>
              </a:rPr>
              <a:t>A Blood Bank Management System (BBMS) is a specialized software solution that helps blood banks and healthcare institutions efficiently manage blood donation, storage, and distribution. It acts as a bridge between donors, recipients, and blood bank administrators, ensuring a smooth and organized blood supply process.</a:t>
            </a:r>
          </a:p>
          <a:p>
            <a:r>
              <a:rPr lang="en-IN" sz="2000" dirty="0">
                <a:latin typeface="Times New Roman" pitchFamily="18" charset="0"/>
                <a:cs typeface="Times New Roman" pitchFamily="18" charset="0"/>
              </a:rPr>
              <a:t>It streamlines the entire blood donation and distribution process, ensuring that blood units are efficiently collected, stored, and allocated based on demand, availability, and compatibility.</a:t>
            </a:r>
          </a:p>
          <a:p>
            <a:r>
              <a:rPr lang="en-IN" sz="2000" dirty="0">
                <a:latin typeface="Times New Roman" pitchFamily="18" charset="0"/>
                <a:cs typeface="Times New Roman" pitchFamily="18" charset="0"/>
              </a:rPr>
              <a:t>The system allows donors to register, schedule donations, and track their donation history. Hospital staff and administrators can review blood requests, manage inventory, and monitor supply levels in real time.</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1359A-4CD6-CBF6-6157-6DCCD3AB21D2}"/>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Abstract of Project	</a:t>
            </a:r>
            <a:br>
              <a:rPr lang="en-US" sz="3600"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084968E-8611-8784-EEFA-C297F96427D9}"/>
              </a:ext>
            </a:extLst>
          </p:cNvPr>
          <p:cNvSpPr>
            <a:spLocks noGrp="1"/>
          </p:cNvSpPr>
          <p:nvPr>
            <p:ph sz="quarter" idx="1"/>
          </p:nvPr>
        </p:nvSpPr>
        <p:spPr/>
        <p:txBody>
          <a:bodyPr>
            <a:noAutofit/>
          </a:bodyPr>
          <a:lstStyle/>
          <a:p>
            <a:pPr algn="just"/>
            <a:r>
              <a:rPr lang="en-IN" sz="2000" dirty="0">
                <a:latin typeface="Times New Roman" pitchFamily="18" charset="0"/>
                <a:cs typeface="Times New Roman" pitchFamily="18" charset="0"/>
              </a:rPr>
              <a:t>The </a:t>
            </a:r>
            <a:r>
              <a:rPr lang="en-IN" sz="2000" b="1" dirty="0">
                <a:latin typeface="Times New Roman" pitchFamily="18" charset="0"/>
                <a:cs typeface="Times New Roman" pitchFamily="18" charset="0"/>
              </a:rPr>
              <a:t>Blood Bank Management System (BBMS)</a:t>
            </a:r>
            <a:r>
              <a:rPr lang="en-IN" sz="2000" dirty="0">
                <a:latin typeface="Times New Roman" pitchFamily="18" charset="0"/>
                <a:cs typeface="Times New Roman" pitchFamily="18" charset="0"/>
              </a:rPr>
              <a:t> is a web-based application designed to streamline the process of blood donation, storage, and distribution. The system acts as a centralized platform connecting blood donors, recipients, and blood bank administrators, ensuring the efficient management of blood supply.</a:t>
            </a:r>
          </a:p>
          <a:p>
            <a:pPr algn="just"/>
            <a:r>
              <a:rPr lang="en-IN" sz="2000" dirty="0">
                <a:latin typeface="Times New Roman" pitchFamily="18" charset="0"/>
                <a:cs typeface="Times New Roman" pitchFamily="18" charset="0"/>
              </a:rPr>
              <a:t>The system allows donors to register, schedule donations, and track their donation history. Hospitals and healthcare institutions can request specific blood types, while administrators can monitor inventory levels and ensure timely allocation of blood units. The BBMS enhances transparency, reduces manual errors, and ensures a quick response to emergencies by providing real-time updates on blood availability.</a:t>
            </a:r>
          </a:p>
          <a:p>
            <a:pPr algn="just"/>
            <a:r>
              <a:rPr lang="en-IN" sz="2000" dirty="0">
                <a:latin typeface="Times New Roman" pitchFamily="18" charset="0"/>
                <a:cs typeface="Times New Roman" pitchFamily="18" charset="0"/>
              </a:rPr>
              <a:t>By automating donor registration, blood request processing, and inventory management, the system improves efficiency, minimizes wastage, and ensures that patients receive the required blood on time. This project aims to provide a reliable and user-friendly solution to support the critical needs of blood banks and healthcare facilities.</a:t>
            </a:r>
          </a:p>
          <a:p>
            <a:pPr algn="just"/>
            <a:endParaRPr lang="en-US" sz="2000" dirty="0"/>
          </a:p>
        </p:txBody>
      </p:sp>
    </p:spTree>
    <p:extLst>
      <p:ext uri="{BB962C8B-B14F-4D97-AF65-F5344CB8AC3E}">
        <p14:creationId xmlns:p14="http://schemas.microsoft.com/office/powerpoint/2010/main" val="127941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9B311-A3E9-665A-E132-CED2EA1F3322}"/>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OBJECTIVE</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0AB371-6CAD-40EC-FBED-C6CEC1335EF7}"/>
              </a:ext>
            </a:extLst>
          </p:cNvPr>
          <p:cNvSpPr>
            <a:spLocks noGrp="1"/>
          </p:cNvSpPr>
          <p:nvPr>
            <p:ph sz="quarter" idx="1"/>
          </p:nvPr>
        </p:nvSpPr>
        <p:spPr/>
        <p:txBody>
          <a:bodyPr>
            <a:normAutofit/>
          </a:bodyPr>
          <a:lstStyle/>
          <a:p>
            <a:pPr algn="just"/>
            <a:r>
              <a:rPr lang="en-IN" sz="2000" dirty="0">
                <a:latin typeface="Times New Roman" pitchFamily="18" charset="0"/>
                <a:cs typeface="Times New Roman" pitchFamily="18" charset="0"/>
              </a:rPr>
              <a:t>Automate donor registration, scheduling, and donation tracking.</a:t>
            </a:r>
          </a:p>
          <a:p>
            <a:pPr algn="just"/>
            <a:r>
              <a:rPr lang="en-IN" sz="2000" dirty="0">
                <a:latin typeface="Times New Roman" pitchFamily="18" charset="0"/>
                <a:cs typeface="Times New Roman" pitchFamily="18" charset="0"/>
              </a:rPr>
              <a:t>Maintain real-time blood inventory for efficient management.</a:t>
            </a:r>
          </a:p>
          <a:p>
            <a:pPr algn="just"/>
            <a:r>
              <a:rPr lang="en-IN" sz="2000" dirty="0">
                <a:latin typeface="Times New Roman" pitchFamily="18" charset="0"/>
                <a:cs typeface="Times New Roman" pitchFamily="18" charset="0"/>
              </a:rPr>
              <a:t>Ensure transparency and security in blood donation records.</a:t>
            </a:r>
          </a:p>
          <a:p>
            <a:pPr algn="just"/>
            <a:r>
              <a:rPr lang="en-IN" sz="2000" dirty="0">
                <a:latin typeface="Times New Roman" pitchFamily="18" charset="0"/>
                <a:cs typeface="Times New Roman" pitchFamily="18" charset="0"/>
              </a:rPr>
              <a:t>Integrate with healthcare systems for smooth coordination.</a:t>
            </a:r>
          </a:p>
          <a:p>
            <a:pPr algn="just"/>
            <a:r>
              <a:rPr lang="en-IN" sz="2000" dirty="0">
                <a:latin typeface="Times New Roman" pitchFamily="18" charset="0"/>
                <a:cs typeface="Times New Roman" pitchFamily="18" charset="0"/>
              </a:rPr>
              <a:t>Reduce wastage by optimizing blood storage and distribution.</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456365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3DD7B-690B-4AF2-2D0D-2435FCD836DA}"/>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Advantages</a:t>
            </a:r>
            <a:r>
              <a:rPr lang="en-US" sz="3600" b="1" dirty="0"/>
              <a:t> </a:t>
            </a:r>
            <a:endParaRPr lang="en-US" dirty="0"/>
          </a:p>
        </p:txBody>
      </p:sp>
      <p:sp>
        <p:nvSpPr>
          <p:cNvPr id="3" name="Content Placeholder 2">
            <a:extLst>
              <a:ext uri="{FF2B5EF4-FFF2-40B4-BE49-F238E27FC236}">
                <a16:creationId xmlns:a16="http://schemas.microsoft.com/office/drawing/2014/main" id="{3A7FEF0A-1156-43E3-7CA4-F18879E3B4A6}"/>
              </a:ext>
            </a:extLst>
          </p:cNvPr>
          <p:cNvSpPr>
            <a:spLocks noGrp="1"/>
          </p:cNvSpPr>
          <p:nvPr>
            <p:ph sz="quarter" idx="1"/>
          </p:nvPr>
        </p:nvSpPr>
        <p:spPr/>
        <p:txBody>
          <a:bodyPr>
            <a:normAutofit/>
          </a:bodyPr>
          <a:lstStyle/>
          <a:p>
            <a:pPr algn="just"/>
            <a:r>
              <a:rPr lang="en-IN" sz="2000" b="1" dirty="0">
                <a:latin typeface="Times New Roman" pitchFamily="18" charset="0"/>
                <a:cs typeface="Times New Roman" pitchFamily="18" charset="0"/>
              </a:rPr>
              <a:t>User-Friendly Interface</a:t>
            </a:r>
            <a:r>
              <a:rPr lang="en-IN" sz="2000" dirty="0">
                <a:latin typeface="Times New Roman" pitchFamily="18" charset="0"/>
                <a:cs typeface="Times New Roman" pitchFamily="18" charset="0"/>
              </a:rPr>
              <a:t> – Makes it easy for donors, recipients, and staff to navigate and use the system.</a:t>
            </a:r>
          </a:p>
          <a:p>
            <a:pPr algn="just"/>
            <a:r>
              <a:rPr lang="en-IN" sz="2000" b="1" dirty="0">
                <a:latin typeface="Times New Roman" pitchFamily="18" charset="0"/>
                <a:cs typeface="Times New Roman" pitchFamily="18" charset="0"/>
              </a:rPr>
              <a:t>Easy Search &amp; Matching</a:t>
            </a:r>
            <a:r>
              <a:rPr lang="en-IN" sz="2000" dirty="0">
                <a:latin typeface="Times New Roman" pitchFamily="18" charset="0"/>
                <a:cs typeface="Times New Roman" pitchFamily="18" charset="0"/>
              </a:rPr>
              <a:t> – Allows searching for donors or blood units based on type, location, or urgency.</a:t>
            </a:r>
          </a:p>
          <a:p>
            <a:pPr algn="just"/>
            <a:r>
              <a:rPr lang="en-IN" sz="2000" b="1" dirty="0">
                <a:latin typeface="Times New Roman" pitchFamily="18" charset="0"/>
                <a:cs typeface="Times New Roman" pitchFamily="18" charset="0"/>
              </a:rPr>
              <a:t>Efficient Blood Storage &amp; Tracking</a:t>
            </a:r>
            <a:r>
              <a:rPr lang="en-IN" sz="2000" dirty="0">
                <a:latin typeface="Times New Roman" pitchFamily="18" charset="0"/>
                <a:cs typeface="Times New Roman" pitchFamily="18" charset="0"/>
              </a:rPr>
              <a:t> – Helps in managing blood inventory, tracking donations, and ensuring proper storage.</a:t>
            </a:r>
          </a:p>
          <a:p>
            <a:pPr algn="just"/>
            <a:r>
              <a:rPr lang="en-IN" sz="2000" b="1" dirty="0">
                <a:latin typeface="Times New Roman" pitchFamily="18" charset="0"/>
                <a:cs typeface="Times New Roman" pitchFamily="18" charset="0"/>
              </a:rPr>
              <a:t>Faster Blood Availability</a:t>
            </a:r>
            <a:r>
              <a:rPr lang="en-IN" sz="2000" dirty="0">
                <a:latin typeface="Times New Roman" pitchFamily="18" charset="0"/>
                <a:cs typeface="Times New Roman" pitchFamily="18" charset="0"/>
              </a:rPr>
              <a:t> – Quick search and retrieval of blood based on type, availability, and location.</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149014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B7DFC-0050-3E9D-C39A-9579081ADEFD}"/>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Disadvantages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E0E59C8-8E5B-0737-2453-F4F181D27AE6}"/>
              </a:ext>
            </a:extLst>
          </p:cNvPr>
          <p:cNvSpPr>
            <a:spLocks noGrp="1"/>
          </p:cNvSpPr>
          <p:nvPr>
            <p:ph sz="quarter" idx="1"/>
          </p:nvPr>
        </p:nvSpPr>
        <p:spPr/>
        <p:txBody>
          <a:bodyPr>
            <a:normAutofit/>
          </a:bodyPr>
          <a:lstStyle/>
          <a:p>
            <a:pPr algn="just"/>
            <a:r>
              <a:rPr lang="en-IN" sz="2000" b="1" dirty="0">
                <a:latin typeface="Times New Roman" pitchFamily="18" charset="0"/>
                <a:cs typeface="Times New Roman" pitchFamily="18" charset="0"/>
              </a:rPr>
              <a:t>Technical Issues</a:t>
            </a:r>
            <a:r>
              <a:rPr lang="en-IN" sz="2000" dirty="0">
                <a:latin typeface="Times New Roman" pitchFamily="18" charset="0"/>
                <a:cs typeface="Times New Roman" pitchFamily="18" charset="0"/>
              </a:rPr>
              <a:t> – System crashes, bugs, or slow servers can cause delays.</a:t>
            </a:r>
          </a:p>
          <a:p>
            <a:pPr algn="just"/>
            <a:r>
              <a:rPr lang="en-IN" sz="2000" b="1" dirty="0">
                <a:latin typeface="Times New Roman" pitchFamily="18" charset="0"/>
                <a:cs typeface="Times New Roman" pitchFamily="18" charset="0"/>
              </a:rPr>
              <a:t>Data Security Risks</a:t>
            </a:r>
            <a:r>
              <a:rPr lang="en-IN" sz="2000" dirty="0">
                <a:latin typeface="Times New Roman" pitchFamily="18" charset="0"/>
                <a:cs typeface="Times New Roman" pitchFamily="18" charset="0"/>
              </a:rPr>
              <a:t> – Sensitive donor and patient data must be protected from hacking or misuse.</a:t>
            </a:r>
          </a:p>
          <a:p>
            <a:pPr algn="just"/>
            <a:r>
              <a:rPr lang="en-IN" sz="2000" b="1" dirty="0">
                <a:latin typeface="Times New Roman" pitchFamily="18" charset="0"/>
                <a:cs typeface="Times New Roman" pitchFamily="18" charset="0"/>
              </a:rPr>
              <a:t>Dependency on Internet</a:t>
            </a:r>
            <a:r>
              <a:rPr lang="en-IN" sz="2000" dirty="0">
                <a:latin typeface="Times New Roman" pitchFamily="18" charset="0"/>
                <a:cs typeface="Times New Roman" pitchFamily="18" charset="0"/>
              </a:rPr>
              <a:t> – Cloud-based systems require stable internet for smooth operation.</a:t>
            </a:r>
          </a:p>
          <a:p>
            <a:pPr algn="just"/>
            <a:r>
              <a:rPr lang="en-IN" sz="2000" b="1" dirty="0">
                <a:latin typeface="Times New Roman" pitchFamily="18" charset="0"/>
                <a:cs typeface="Times New Roman" pitchFamily="18" charset="0"/>
              </a:rPr>
              <a:t>Limited Adoption in Rural Areas</a:t>
            </a:r>
            <a:r>
              <a:rPr lang="en-IN" sz="2000" dirty="0">
                <a:latin typeface="Times New Roman" pitchFamily="18" charset="0"/>
                <a:cs typeface="Times New Roman" pitchFamily="18" charset="0"/>
              </a:rPr>
              <a:t> – Some areas may lack the technology or awareness to implement the system.</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287666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Problem statement</a:t>
            </a:r>
          </a:p>
        </p:txBody>
      </p:sp>
      <p:sp>
        <p:nvSpPr>
          <p:cNvPr id="3" name="Content Placeholder 2"/>
          <p:cNvSpPr>
            <a:spLocks noGrp="1"/>
          </p:cNvSpPr>
          <p:nvPr>
            <p:ph sz="quarter" idx="1"/>
          </p:nvPr>
        </p:nvSpPr>
        <p:spPr/>
        <p:txBody>
          <a:bodyPr>
            <a:normAutofit/>
          </a:bodyPr>
          <a:lstStyle/>
          <a:p>
            <a:r>
              <a:rPr lang="en-IN" sz="2000" b="1" dirty="0">
                <a:latin typeface="Times New Roman" pitchFamily="18" charset="0"/>
                <a:cs typeface="Times New Roman" pitchFamily="18" charset="0"/>
              </a:rPr>
              <a:t>Manual Donor Search</a:t>
            </a:r>
            <a:r>
              <a:rPr lang="en-IN" sz="2000" dirty="0">
                <a:latin typeface="Times New Roman" pitchFamily="18" charset="0"/>
                <a:cs typeface="Times New Roman" pitchFamily="18" charset="0"/>
              </a:rPr>
              <a:t> – Finding a suitable blood donor is often done through word of mouth or outdated records, making the process slow and inefficient.</a:t>
            </a:r>
          </a:p>
          <a:p>
            <a:r>
              <a:rPr lang="en-IN" sz="2000" b="1" dirty="0">
                <a:latin typeface="Times New Roman" pitchFamily="18" charset="0"/>
                <a:cs typeface="Times New Roman" pitchFamily="18" charset="0"/>
              </a:rPr>
              <a:t>Data Management Issues</a:t>
            </a:r>
            <a:r>
              <a:rPr lang="en-IN" sz="2000" dirty="0">
                <a:latin typeface="Times New Roman" pitchFamily="18" charset="0"/>
                <a:cs typeface="Times New Roman" pitchFamily="18" charset="0"/>
              </a:rPr>
              <a:t> – Storing and updating donor details manually can lead to inconsistencies, missing records, and outdated information.</a:t>
            </a:r>
          </a:p>
          <a:p>
            <a:r>
              <a:rPr lang="en-IN" sz="2000" b="1" dirty="0">
                <a:latin typeface="Times New Roman" pitchFamily="18" charset="0"/>
                <a:cs typeface="Times New Roman" pitchFamily="18" charset="0"/>
              </a:rPr>
              <a:t>Lack of Real-Time Availability</a:t>
            </a:r>
            <a:r>
              <a:rPr lang="en-IN" sz="2000" dirty="0">
                <a:latin typeface="Times New Roman" pitchFamily="18" charset="0"/>
                <a:cs typeface="Times New Roman" pitchFamily="18" charset="0"/>
              </a:rPr>
              <a:t> – There is no system to check if a donor is currently available or has recently donated blood, leading to delays.</a:t>
            </a:r>
          </a:p>
          <a:p>
            <a:r>
              <a:rPr lang="en-IN" sz="2000" b="1" dirty="0">
                <a:latin typeface="Times New Roman" pitchFamily="18" charset="0"/>
                <a:cs typeface="Times New Roman" pitchFamily="18" charset="0"/>
              </a:rPr>
              <a:t>Limited Search Options</a:t>
            </a:r>
            <a:r>
              <a:rPr lang="en-IN" sz="2000" dirty="0">
                <a:latin typeface="Times New Roman" pitchFamily="18" charset="0"/>
                <a:cs typeface="Times New Roman" pitchFamily="18" charset="0"/>
              </a:rPr>
              <a:t> – Users cannot efficiently filter donors based on specific blood groups and locations, making the search process difficult.</a:t>
            </a:r>
          </a:p>
          <a:p>
            <a:r>
              <a:rPr lang="en-IN" sz="2000" b="1" dirty="0">
                <a:latin typeface="Times New Roman" pitchFamily="18" charset="0"/>
                <a:cs typeface="Times New Roman" pitchFamily="18" charset="0"/>
              </a:rPr>
              <a:t>Communication Gap</a:t>
            </a:r>
            <a:r>
              <a:rPr lang="en-IN" sz="2000" dirty="0">
                <a:latin typeface="Times New Roman" pitchFamily="18" charset="0"/>
                <a:cs typeface="Times New Roman" pitchFamily="18" charset="0"/>
              </a:rPr>
              <a:t> – There is no direct way for recipients to contact potential donors, creating delays in emergency situations.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29D0D-C97D-4D18-1C55-8F0538FF601F}"/>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Future Scope</a:t>
            </a:r>
            <a:br>
              <a:rPr lang="en-US" sz="3600"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ADD90E-3EEB-645D-9C8F-DABE83E31918}"/>
              </a:ext>
            </a:extLst>
          </p:cNvPr>
          <p:cNvSpPr>
            <a:spLocks noGrp="1"/>
          </p:cNvSpPr>
          <p:nvPr>
            <p:ph sz="quarter" idx="1"/>
          </p:nvPr>
        </p:nvSpPr>
        <p:spPr/>
        <p:txBody>
          <a:bodyPr>
            <a:normAutofit/>
          </a:bodyPr>
          <a:lstStyle/>
          <a:p>
            <a:pPr algn="just"/>
            <a:r>
              <a:rPr lang="en-IN" sz="2000" dirty="0">
                <a:latin typeface="Times New Roman" pitchFamily="18" charset="0"/>
                <a:cs typeface="Times New Roman" pitchFamily="18" charset="0"/>
              </a:rPr>
              <a:t>The Blood Bank System has established a solid foundation for efficient blood donation and management, yet there are several areas where the system can be expanded and improved upon. Below are potential directions for future development:</a:t>
            </a:r>
          </a:p>
          <a:p>
            <a:pPr marL="0" indent="0" algn="just">
              <a:buNone/>
            </a:pPr>
            <a:endParaRPr lang="en-US" sz="2000" dirty="0">
              <a:latin typeface="Times New Roman" pitchFamily="18" charset="0"/>
              <a:cs typeface="Times New Roman" pitchFamily="18" charset="0"/>
            </a:endParaRPr>
          </a:p>
          <a:p>
            <a:pPr algn="just"/>
            <a:r>
              <a:rPr lang="en-IN" sz="2000" dirty="0">
                <a:latin typeface="Times New Roman" pitchFamily="18" charset="0"/>
                <a:cs typeface="Times New Roman" pitchFamily="18" charset="0"/>
              </a:rPr>
              <a:t>AI-Powered Donor Matching</a:t>
            </a:r>
            <a:endParaRPr lang="en-US" sz="2000" dirty="0">
              <a:latin typeface="Times New Roman" pitchFamily="18" charset="0"/>
              <a:cs typeface="Times New Roman" pitchFamily="18" charset="0"/>
            </a:endParaRPr>
          </a:p>
          <a:p>
            <a:pPr algn="just"/>
            <a:r>
              <a:rPr lang="en-IN" sz="2000" dirty="0">
                <a:latin typeface="Times New Roman" pitchFamily="18" charset="0"/>
                <a:cs typeface="Times New Roman" pitchFamily="18" charset="0"/>
              </a:rPr>
              <a:t>Mobile Application</a:t>
            </a:r>
          </a:p>
          <a:p>
            <a:pPr algn="just"/>
            <a:r>
              <a:rPr lang="en-IN" sz="2000" dirty="0">
                <a:latin typeface="Times New Roman" pitchFamily="18" charset="0"/>
                <a:cs typeface="Times New Roman" pitchFamily="18" charset="0"/>
              </a:rPr>
              <a:t>Cloud-Based Data Management</a:t>
            </a:r>
            <a:endParaRPr lang="en-US" sz="2000" dirty="0">
              <a:latin typeface="Times New Roman" pitchFamily="18" charset="0"/>
              <a:cs typeface="Times New Roman" pitchFamily="18" charset="0"/>
            </a:endParaRPr>
          </a:p>
          <a:p>
            <a:pPr algn="just"/>
            <a:r>
              <a:rPr lang="en-IN" sz="2000" dirty="0">
                <a:latin typeface="Times New Roman" pitchFamily="18" charset="0"/>
                <a:cs typeface="Times New Roman" pitchFamily="18" charset="0"/>
              </a:rPr>
              <a:t>Integration with Social Media Platforms</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709474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089FE-D69A-B8D4-60D3-C43A12770420}"/>
              </a:ext>
            </a:extLst>
          </p:cNvPr>
          <p:cNvSpPr>
            <a:spLocks noGrp="1"/>
          </p:cNvSpPr>
          <p:nvPr>
            <p:ph type="title"/>
          </p:nvPr>
        </p:nvSpPr>
        <p:spPr/>
        <p:txBody>
          <a:bodyPr/>
          <a:lstStyle/>
          <a:p>
            <a:r>
              <a:rPr lang="en-IN" sz="1800" b="1" dirty="0">
                <a:solidFill>
                  <a:schemeClr val="accent1"/>
                </a:solidFill>
                <a:latin typeface="Roboto" panose="02000000000000000000" pitchFamily="2" charset="0"/>
                <a:ea typeface="Roboto" panose="02000000000000000000" pitchFamily="2" charset="0"/>
                <a:cs typeface="Roboto" panose="02000000000000000000" pitchFamily="2" charset="0"/>
              </a:rPr>
              <a:t>User</a:t>
            </a:r>
            <a:r>
              <a:rPr lang="en-IN" sz="1800" b="1" dirty="0">
                <a:effectLst/>
                <a:latin typeface="Roboto" panose="02000000000000000000" pitchFamily="2" charset="0"/>
                <a:ea typeface="Roboto" panose="02000000000000000000" pitchFamily="2" charset="0"/>
                <a:cs typeface="Roboto" panose="02000000000000000000" pitchFamily="2" charset="0"/>
              </a:rPr>
              <a:t> </a:t>
            </a:r>
            <a:r>
              <a:rPr lang="en-IN" sz="1800" b="1" dirty="0">
                <a:solidFill>
                  <a:schemeClr val="accent1"/>
                </a:solidFill>
                <a:latin typeface="Roboto" panose="02000000000000000000" pitchFamily="2" charset="0"/>
                <a:ea typeface="Roboto" panose="02000000000000000000" pitchFamily="2" charset="0"/>
                <a:cs typeface="Roboto" panose="02000000000000000000" pitchFamily="2" charset="0"/>
              </a:rPr>
              <a:t>Login</a:t>
            </a:r>
            <a:r>
              <a:rPr lang="en-IN" sz="1800" b="1" dirty="0">
                <a:effectLst/>
                <a:latin typeface="Roboto" panose="02000000000000000000" pitchFamily="2" charset="0"/>
                <a:ea typeface="Roboto" panose="02000000000000000000" pitchFamily="2" charset="0"/>
                <a:cs typeface="Roboto" panose="02000000000000000000" pitchFamily="2" charset="0"/>
              </a:rPr>
              <a:t>                                                                  </a:t>
            </a:r>
            <a:br>
              <a:rPr lang="en-IN" sz="1800" dirty="0">
                <a:effectLst/>
                <a:latin typeface="Roboto" panose="02000000000000000000" pitchFamily="2" charset="0"/>
                <a:ea typeface="Roboto" panose="02000000000000000000" pitchFamily="2" charset="0"/>
                <a:cs typeface="Roboto" panose="02000000000000000000" pitchFamily="2" charset="0"/>
              </a:rPr>
            </a:br>
            <a:r>
              <a:rPr lang="en-IN" sz="1800" b="1" dirty="0">
                <a:effectLst/>
                <a:latin typeface="Roboto" panose="02000000000000000000" pitchFamily="2" charset="0"/>
                <a:ea typeface="Roboto" panose="02000000000000000000" pitchFamily="2" charset="0"/>
                <a:cs typeface="Roboto" panose="02000000000000000000" pitchFamily="2" charset="0"/>
              </a:rPr>
              <a:t>               </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0DDD4DD3-73BE-C542-B1A7-C3AE8FA328D8}"/>
              </a:ext>
            </a:extLst>
          </p:cNvPr>
          <p:cNvSpPr>
            <a:spLocks noGrp="1"/>
          </p:cNvSpPr>
          <p:nvPr>
            <p:ph idx="1"/>
          </p:nvPr>
        </p:nvSpPr>
        <p:spPr>
          <a:xfrm>
            <a:off x="677334" y="1727970"/>
            <a:ext cx="8596668" cy="3880773"/>
          </a:xfrm>
        </p:spPr>
        <p:txBody>
          <a:bodyPr/>
          <a:lstStyle/>
          <a:p>
            <a:pPr algn="just">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navigates to the homepage.</a:t>
            </a:r>
          </a:p>
          <a:p>
            <a:pPr algn="just">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clicks the "Login" button.</a:t>
            </a:r>
          </a:p>
          <a:p>
            <a:pPr algn="just">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system redirects the user to the login page.</a:t>
            </a:r>
          </a:p>
          <a:p>
            <a:pPr algn="just">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enters their email and password.</a:t>
            </a:r>
          </a:p>
          <a:p>
            <a:pPr algn="just">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clicks the "Submit" button.</a:t>
            </a:r>
          </a:p>
          <a:p>
            <a:endParaRPr lang="en-IN" dirty="0"/>
          </a:p>
        </p:txBody>
      </p:sp>
      <p:sp>
        <p:nvSpPr>
          <p:cNvPr id="4" name="TextBox 3">
            <a:extLst>
              <a:ext uri="{FF2B5EF4-FFF2-40B4-BE49-F238E27FC236}">
                <a16:creationId xmlns:a16="http://schemas.microsoft.com/office/drawing/2014/main" id="{04489D1D-BACD-ADB6-0492-E46BB6EA2D11}"/>
              </a:ext>
            </a:extLst>
          </p:cNvPr>
          <p:cNvSpPr txBox="1"/>
          <p:nvPr/>
        </p:nvSpPr>
        <p:spPr>
          <a:xfrm>
            <a:off x="6685936" y="614787"/>
            <a:ext cx="2935419" cy="369332"/>
          </a:xfrm>
          <a:prstGeom prst="rect">
            <a:avLst/>
          </a:prstGeom>
          <a:noFill/>
        </p:spPr>
        <p:txBody>
          <a:bodyPr wrap="none" rtlCol="0">
            <a:spAutoFit/>
          </a:bodyPr>
          <a:lstStyle/>
          <a:p>
            <a:r>
              <a:rPr lang="en-IN" b="1" dirty="0">
                <a:solidFill>
                  <a:schemeClr val="accent1"/>
                </a:solidFill>
                <a:latin typeface="Roboto" panose="02000000000000000000" pitchFamily="2" charset="0"/>
                <a:ea typeface="Roboto" panose="02000000000000000000" pitchFamily="2" charset="0"/>
                <a:cs typeface="Roboto" panose="02000000000000000000" pitchFamily="2" charset="0"/>
              </a:rPr>
              <a:t>User Registration (Sign Up</a:t>
            </a:r>
          </a:p>
        </p:txBody>
      </p:sp>
      <p:sp>
        <p:nvSpPr>
          <p:cNvPr id="5" name="TextBox 4">
            <a:extLst>
              <a:ext uri="{FF2B5EF4-FFF2-40B4-BE49-F238E27FC236}">
                <a16:creationId xmlns:a16="http://schemas.microsoft.com/office/drawing/2014/main" id="{9773EBA7-62D3-50C1-E5B9-BBD808ECC19A}"/>
              </a:ext>
            </a:extLst>
          </p:cNvPr>
          <p:cNvSpPr txBox="1"/>
          <p:nvPr/>
        </p:nvSpPr>
        <p:spPr>
          <a:xfrm>
            <a:off x="5917447" y="1648897"/>
            <a:ext cx="5878532" cy="3560205"/>
          </a:xfrm>
          <a:prstGeom prst="rect">
            <a:avLst/>
          </a:prstGeom>
          <a:noFill/>
        </p:spPr>
        <p:txBody>
          <a:bodyPr wrap="none" rtlCol="0">
            <a:spAutoFit/>
          </a:bodyPr>
          <a:lstStyle/>
          <a:p>
            <a:pPr marL="342900" lvl="0" indent="-342900">
              <a:lnSpc>
                <a:spcPct val="192000"/>
              </a:lnSpc>
              <a:buClr>
                <a:schemeClr val="accent1"/>
              </a:buClr>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navigates to the homepage.</a:t>
            </a:r>
          </a:p>
          <a:p>
            <a:pPr marL="342900" lvl="0" indent="-342900">
              <a:lnSpc>
                <a:spcPct val="192000"/>
              </a:lnSpc>
              <a:buClr>
                <a:schemeClr val="accent1"/>
              </a:buClr>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clicks on the "Sign Up" button.</a:t>
            </a:r>
          </a:p>
          <a:p>
            <a:pPr marL="342900" lvl="0" indent="-342900">
              <a:lnSpc>
                <a:spcPct val="192000"/>
              </a:lnSpc>
              <a:buClr>
                <a:schemeClr val="accent1"/>
              </a:buClr>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system displays the sign-up form with fields for </a:t>
            </a:r>
          </a:p>
          <a:p>
            <a:pPr lvl="0">
              <a:lnSpc>
                <a:spcPct val="192000"/>
              </a:lnSpc>
              <a:buClr>
                <a:schemeClr val="accent1"/>
              </a:buClr>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          Name, Email, Password, Blood Group, and State.</a:t>
            </a:r>
          </a:p>
          <a:p>
            <a:pPr marL="342900" lvl="0" indent="-342900">
              <a:lnSpc>
                <a:spcPct val="192000"/>
              </a:lnSpc>
              <a:buClr>
                <a:schemeClr val="accent1"/>
              </a:buClr>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enters valid details in all fields.</a:t>
            </a:r>
          </a:p>
          <a:p>
            <a:pPr marL="342900" lvl="0" indent="-342900">
              <a:lnSpc>
                <a:spcPct val="192000"/>
              </a:lnSpc>
              <a:buClr>
                <a:schemeClr val="accent1"/>
              </a:buClr>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clicks the "Submit" button.</a:t>
            </a:r>
          </a:p>
          <a:p>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7EC04CBC-478F-EFBC-8F2C-DDB37CEF97CA}"/>
              </a:ext>
            </a:extLst>
          </p:cNvPr>
          <p:cNvSpPr txBox="1"/>
          <p:nvPr/>
        </p:nvSpPr>
        <p:spPr>
          <a:xfrm>
            <a:off x="4376641" y="184813"/>
            <a:ext cx="1540806" cy="369332"/>
          </a:xfrm>
          <a:prstGeom prst="rect">
            <a:avLst/>
          </a:prstGeom>
          <a:noFill/>
        </p:spPr>
        <p:txBody>
          <a:bodyPr wrap="none" rtlCol="0">
            <a:spAutoFit/>
          </a:bodyPr>
          <a:lstStyle/>
          <a:p>
            <a:r>
              <a:rPr lang="en-US" dirty="0">
                <a:solidFill>
                  <a:schemeClr val="accent1"/>
                </a:solidFill>
              </a:rPr>
              <a:t>USE CASES</a:t>
            </a:r>
            <a:endParaRPr lang="en-IN" dirty="0">
              <a:solidFill>
                <a:schemeClr val="accent1"/>
              </a:solidFill>
            </a:endParaRPr>
          </a:p>
        </p:txBody>
      </p:sp>
    </p:spTree>
    <p:extLst>
      <p:ext uri="{BB962C8B-B14F-4D97-AF65-F5344CB8AC3E}">
        <p14:creationId xmlns:p14="http://schemas.microsoft.com/office/powerpoint/2010/main" val="4167951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5F7A1-EE53-3226-61BE-1354538EC77E}"/>
              </a:ext>
            </a:extLst>
          </p:cNvPr>
          <p:cNvSpPr>
            <a:spLocks noGrp="1"/>
          </p:cNvSpPr>
          <p:nvPr>
            <p:ph type="title"/>
          </p:nvPr>
        </p:nvSpPr>
        <p:spPr>
          <a:xfrm>
            <a:off x="677334" y="609600"/>
            <a:ext cx="3304731" cy="447040"/>
          </a:xfrm>
        </p:spPr>
        <p:txBody>
          <a:bodyPr/>
          <a:lstStyle/>
          <a:p>
            <a:r>
              <a:rPr lang="en-IN" sz="1800" b="1" dirty="0">
                <a:solidFill>
                  <a:schemeClr val="accent1"/>
                </a:solidFill>
                <a:latin typeface="Roboto" panose="02000000000000000000" pitchFamily="2" charset="0"/>
                <a:ea typeface="Roboto" panose="02000000000000000000" pitchFamily="2" charset="0"/>
                <a:cs typeface="Roboto" panose="02000000000000000000" pitchFamily="2" charset="0"/>
              </a:rPr>
              <a:t>Search for Donors</a:t>
            </a:r>
          </a:p>
        </p:txBody>
      </p:sp>
      <p:sp>
        <p:nvSpPr>
          <p:cNvPr id="3" name="Content Placeholder 2">
            <a:extLst>
              <a:ext uri="{FF2B5EF4-FFF2-40B4-BE49-F238E27FC236}">
                <a16:creationId xmlns:a16="http://schemas.microsoft.com/office/drawing/2014/main" id="{67FB9721-B128-A25A-16F9-914E18252B7D}"/>
              </a:ext>
            </a:extLst>
          </p:cNvPr>
          <p:cNvSpPr>
            <a:spLocks noGrp="1"/>
          </p:cNvSpPr>
          <p:nvPr>
            <p:ph idx="1"/>
          </p:nvPr>
        </p:nvSpPr>
        <p:spPr>
          <a:xfrm>
            <a:off x="559347" y="1383840"/>
            <a:ext cx="5880782" cy="3880773"/>
          </a:xfrm>
        </p:spPr>
        <p:txBody>
          <a:bodyPr/>
          <a:lstStyle/>
          <a:p>
            <a:pPr>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clicks on the "Search Donors" option.</a:t>
            </a:r>
          </a:p>
          <a:p>
            <a:pPr>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system displays a search form with filters for Blood Group and State.</a:t>
            </a:r>
          </a:p>
          <a:p>
            <a:pPr>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selects the required Blood Group and State.</a:t>
            </a:r>
          </a:p>
          <a:p>
            <a:pPr lvl="0">
              <a:lnSpc>
                <a:spcPct val="192000"/>
              </a:lnSpc>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clicks the "Search" button.</a:t>
            </a:r>
          </a:p>
          <a:p>
            <a:endParaRPr lang="en-IN" dirty="0"/>
          </a:p>
        </p:txBody>
      </p:sp>
      <p:sp>
        <p:nvSpPr>
          <p:cNvPr id="4" name="TextBox 3">
            <a:extLst>
              <a:ext uri="{FF2B5EF4-FFF2-40B4-BE49-F238E27FC236}">
                <a16:creationId xmlns:a16="http://schemas.microsoft.com/office/drawing/2014/main" id="{CAE46894-279B-A9FE-2D17-864F903FE542}"/>
              </a:ext>
            </a:extLst>
          </p:cNvPr>
          <p:cNvSpPr txBox="1"/>
          <p:nvPr/>
        </p:nvSpPr>
        <p:spPr>
          <a:xfrm>
            <a:off x="7629832" y="609600"/>
            <a:ext cx="1800558" cy="369332"/>
          </a:xfrm>
          <a:prstGeom prst="rect">
            <a:avLst/>
          </a:prstGeom>
          <a:noFill/>
        </p:spPr>
        <p:txBody>
          <a:bodyPr wrap="none" rtlCol="0">
            <a:spAutoFit/>
          </a:bodyPr>
          <a:lstStyle/>
          <a:p>
            <a:r>
              <a:rPr lang="en-IN" sz="1800" b="1" dirty="0">
                <a:solidFill>
                  <a:schemeClr val="accent1"/>
                </a:solidFill>
                <a:effectLst/>
                <a:latin typeface="Roboto" panose="02000000000000000000" pitchFamily="2" charset="0"/>
                <a:ea typeface="Roboto" panose="02000000000000000000" pitchFamily="2" charset="0"/>
                <a:cs typeface="Roboto" panose="02000000000000000000" pitchFamily="2" charset="0"/>
              </a:rPr>
              <a:t>View Donor List</a:t>
            </a:r>
            <a:endParaRPr lang="en-IN"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5" name="TextBox 4">
            <a:extLst>
              <a:ext uri="{FF2B5EF4-FFF2-40B4-BE49-F238E27FC236}">
                <a16:creationId xmlns:a16="http://schemas.microsoft.com/office/drawing/2014/main" id="{E7702C23-52EF-79DE-2ABA-122E9F3F9029}"/>
              </a:ext>
            </a:extLst>
          </p:cNvPr>
          <p:cNvSpPr txBox="1"/>
          <p:nvPr/>
        </p:nvSpPr>
        <p:spPr>
          <a:xfrm>
            <a:off x="6646607" y="1383840"/>
            <a:ext cx="5404043" cy="1432956"/>
          </a:xfrm>
          <a:prstGeom prst="rect">
            <a:avLst/>
          </a:prstGeom>
          <a:noFill/>
        </p:spPr>
        <p:txBody>
          <a:bodyPr wrap="none" rtlCol="0">
            <a:spAutoFit/>
          </a:bodyPr>
          <a:lstStyle/>
          <a:p>
            <a:pPr marL="342900" lvl="0" indent="-342900">
              <a:lnSpc>
                <a:spcPct val="192000"/>
              </a:lnSpc>
              <a:buClr>
                <a:schemeClr val="accent1"/>
              </a:buClr>
              <a:buFont typeface="Courier New" panose="02070309020205020404" pitchFamily="49" charset="0"/>
              <a:buChar char="o"/>
              <a:tabLst>
                <a:tab pos="457200" algn="l"/>
              </a:tabLst>
            </a:pPr>
            <a:r>
              <a:rPr lang="en-IN" sz="1800" dirty="0">
                <a:effectLst/>
                <a:latin typeface="Roboto" panose="02000000000000000000" pitchFamily="2" charset="0"/>
                <a:ea typeface="Roboto" panose="02000000000000000000" pitchFamily="2" charset="0"/>
                <a:cs typeface="Roboto" panose="02000000000000000000" pitchFamily="2" charset="0"/>
              </a:rPr>
              <a:t>The user navigates to the "View Donors" button.</a:t>
            </a:r>
          </a:p>
          <a:p>
            <a:pPr marL="342900" lvl="0" indent="-342900">
              <a:lnSpc>
                <a:spcPct val="192000"/>
              </a:lnSpc>
              <a:buClr>
                <a:schemeClr val="accent1"/>
              </a:buClr>
              <a:buFont typeface="Courier New" panose="02070309020205020404" pitchFamily="49" charset="0"/>
              <a:buChar char="o"/>
              <a:tabLst>
                <a:tab pos="457200" algn="l"/>
              </a:tabLst>
            </a:pPr>
            <a:r>
              <a:rPr lang="en-IN" dirty="0">
                <a:latin typeface="Roboto" panose="02000000000000000000" pitchFamily="2" charset="0"/>
                <a:ea typeface="Roboto" panose="02000000000000000000" pitchFamily="2" charset="0"/>
                <a:cs typeface="Roboto" panose="02000000000000000000" pitchFamily="2" charset="0"/>
              </a:rPr>
              <a:t>Available Donors will Display</a:t>
            </a:r>
            <a:r>
              <a:rPr lang="en-IN" sz="1800" dirty="0">
                <a:effectLst/>
                <a:latin typeface="Roboto" panose="02000000000000000000" pitchFamily="2" charset="0"/>
                <a:ea typeface="Roboto" panose="02000000000000000000" pitchFamily="2" charset="0"/>
                <a:cs typeface="Roboto" panose="02000000000000000000" pitchFamily="2" charset="0"/>
              </a:rPr>
              <a:t>.</a:t>
            </a:r>
          </a:p>
          <a:p>
            <a:pPr>
              <a:buClr>
                <a:schemeClr val="accent1"/>
              </a:buClr>
            </a:pPr>
            <a:endParaRPr lang="en-IN"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538800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1FECE-DCAA-1A2F-7FAB-885A51A2462B}"/>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Use Case Diagram</a:t>
            </a:r>
            <a:endParaRPr lang="en-US" dirty="0">
              <a:latin typeface="Times New Roman" panose="02020603050405020304" pitchFamily="18" charset="0"/>
              <a:cs typeface="Times New Roman" panose="02020603050405020304" pitchFamily="18" charset="0"/>
            </a:endParaRPr>
          </a:p>
        </p:txBody>
      </p:sp>
      <p:pic>
        <p:nvPicPr>
          <p:cNvPr id="1027" name="Picture 3"/>
          <p:cNvPicPr>
            <a:picLocks noGrp="1" noChangeAspect="1" noChangeArrowheads="1"/>
          </p:cNvPicPr>
          <p:nvPr>
            <p:ph sz="quarter" idx="1"/>
          </p:nvPr>
        </p:nvPicPr>
        <p:blipFill>
          <a:blip r:embed="rId2" cstate="print"/>
          <a:srcRect/>
          <a:stretch>
            <a:fillRect/>
          </a:stretch>
        </p:blipFill>
        <p:spPr bwMode="auto">
          <a:xfrm>
            <a:off x="3081812" y="1600200"/>
            <a:ext cx="5012376" cy="4873625"/>
          </a:xfrm>
          <a:prstGeom prst="rect">
            <a:avLst/>
          </a:prstGeom>
          <a:noFill/>
          <a:ln w="9525">
            <a:noFill/>
            <a:miter lim="800000"/>
            <a:headEnd/>
            <a:tailEnd/>
          </a:ln>
          <a:effectLst/>
        </p:spPr>
      </p:pic>
    </p:spTree>
    <p:extLst>
      <p:ext uri="{BB962C8B-B14F-4D97-AF65-F5344CB8AC3E}">
        <p14:creationId xmlns:p14="http://schemas.microsoft.com/office/powerpoint/2010/main" val="3995651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587B-0BF4-4707-91F2-193FF29897D5}"/>
              </a:ext>
            </a:extLst>
          </p:cNvPr>
          <p:cNvSpPr>
            <a:spLocks noGrp="1"/>
          </p:cNvSpPr>
          <p:nvPr>
            <p:ph type="title"/>
          </p:nvPr>
        </p:nvSpPr>
        <p:spPr/>
        <p:txBody>
          <a:bodyPr/>
          <a:lstStyle/>
          <a:p>
            <a:r>
              <a:rPr lang="en-US" sz="3600" b="1" dirty="0">
                <a:latin typeface="Times New Roman" panose="02020603050405020304" pitchFamily="18" charset="0"/>
                <a:cs typeface="Times New Roman" panose="02020603050405020304" pitchFamily="18" charset="0"/>
              </a:rPr>
              <a:t>Data Flow Diagram</a:t>
            </a:r>
            <a:endParaRPr lang="en-US" dirty="0">
              <a:latin typeface="Times New Roman" panose="02020603050405020304" pitchFamily="18" charset="0"/>
              <a:cs typeface="Times New Roman" panose="02020603050405020304" pitchFamily="18" charset="0"/>
            </a:endParaRPr>
          </a:p>
        </p:txBody>
      </p:sp>
      <p:pic>
        <p:nvPicPr>
          <p:cNvPr id="5" name="Picture 4" descr="mermaid-diagram-2025-02-20-001231.png"/>
          <p:cNvPicPr/>
          <p:nvPr/>
        </p:nvPicPr>
        <p:blipFill>
          <a:blip r:embed="rId2" cstate="print"/>
          <a:stretch>
            <a:fillRect/>
          </a:stretch>
        </p:blipFill>
        <p:spPr>
          <a:xfrm>
            <a:off x="458913" y="2519954"/>
            <a:ext cx="5731511" cy="3084195"/>
          </a:xfrm>
          <a:prstGeom prst="rect">
            <a:avLst/>
          </a:prstGeom>
        </p:spPr>
      </p:pic>
      <p:pic>
        <p:nvPicPr>
          <p:cNvPr id="7" name="Picture 6" descr="mermaid-diagram-2025-02-20-001917.png"/>
          <p:cNvPicPr/>
          <p:nvPr/>
        </p:nvPicPr>
        <p:blipFill>
          <a:blip r:embed="rId3" cstate="print"/>
          <a:stretch>
            <a:fillRect/>
          </a:stretch>
        </p:blipFill>
        <p:spPr>
          <a:xfrm>
            <a:off x="6189785" y="2405575"/>
            <a:ext cx="5585511" cy="3226705"/>
          </a:xfrm>
          <a:prstGeom prst="rect">
            <a:avLst/>
          </a:prstGeom>
        </p:spPr>
      </p:pic>
    </p:spTree>
    <p:extLst>
      <p:ext uri="{BB962C8B-B14F-4D97-AF65-F5344CB8AC3E}">
        <p14:creationId xmlns:p14="http://schemas.microsoft.com/office/powerpoint/2010/main" val="4278864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58E2D-2219-B571-C4E5-D4C52FB0195A}"/>
              </a:ext>
            </a:extLst>
          </p:cNvPr>
          <p:cNvSpPr>
            <a:spLocks noGrp="1"/>
          </p:cNvSpPr>
          <p:nvPr>
            <p:ph type="title"/>
          </p:nvPr>
        </p:nvSpPr>
        <p:spPr/>
        <p:txBody>
          <a:bodyPr/>
          <a:lstStyle/>
          <a:p>
            <a:r>
              <a:rPr lang="en-US" dirty="0"/>
              <a:t>User Authentication</a:t>
            </a:r>
            <a:endParaRPr lang="en-IN" dirty="0"/>
          </a:p>
        </p:txBody>
      </p:sp>
      <p:pic>
        <p:nvPicPr>
          <p:cNvPr id="7" name="Picture 6">
            <a:extLst>
              <a:ext uri="{FF2B5EF4-FFF2-40B4-BE49-F238E27FC236}">
                <a16:creationId xmlns:a16="http://schemas.microsoft.com/office/drawing/2014/main" id="{0BD31146-C970-4941-C37F-41459747917C}"/>
              </a:ext>
            </a:extLst>
          </p:cNvPr>
          <p:cNvPicPr>
            <a:picLocks noChangeAspect="1"/>
          </p:cNvPicPr>
          <p:nvPr/>
        </p:nvPicPr>
        <p:blipFill>
          <a:blip r:embed="rId2"/>
          <a:srcRect/>
          <a:stretch>
            <a:fillRect/>
          </a:stretch>
        </p:blipFill>
        <p:spPr bwMode="auto">
          <a:xfrm>
            <a:off x="491490" y="1992312"/>
            <a:ext cx="5330190" cy="3239135"/>
          </a:xfrm>
          <a:prstGeom prst="rect">
            <a:avLst/>
          </a:prstGeom>
          <a:noFill/>
          <a:ln w="9525">
            <a:noFill/>
            <a:miter lim="800000"/>
            <a:headEnd/>
            <a:tailEnd/>
          </a:ln>
        </p:spPr>
      </p:pic>
      <p:pic>
        <p:nvPicPr>
          <p:cNvPr id="8" name="Picture 7">
            <a:extLst>
              <a:ext uri="{FF2B5EF4-FFF2-40B4-BE49-F238E27FC236}">
                <a16:creationId xmlns:a16="http://schemas.microsoft.com/office/drawing/2014/main" id="{31FEDFF8-7952-4B47-5B16-C9923B71F5DC}"/>
              </a:ext>
            </a:extLst>
          </p:cNvPr>
          <p:cNvPicPr>
            <a:picLocks noChangeAspect="1"/>
          </p:cNvPicPr>
          <p:nvPr/>
        </p:nvPicPr>
        <p:blipFill>
          <a:blip r:embed="rId3"/>
          <a:srcRect/>
          <a:stretch>
            <a:fillRect/>
          </a:stretch>
        </p:blipFill>
        <p:spPr bwMode="auto">
          <a:xfrm>
            <a:off x="6014720" y="1992312"/>
            <a:ext cx="5763260" cy="3239135"/>
          </a:xfrm>
          <a:prstGeom prst="rect">
            <a:avLst/>
          </a:prstGeom>
          <a:noFill/>
          <a:ln w="9525">
            <a:noFill/>
            <a:miter lim="800000"/>
            <a:headEnd/>
            <a:tailEnd/>
          </a:ln>
        </p:spPr>
      </p:pic>
    </p:spTree>
    <p:extLst>
      <p:ext uri="{BB962C8B-B14F-4D97-AF65-F5344CB8AC3E}">
        <p14:creationId xmlns:p14="http://schemas.microsoft.com/office/powerpoint/2010/main" val="2053967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E5627D0-8912-43D2-BC5E-2804B59C5965}"/>
              </a:ext>
            </a:extLst>
          </p:cNvPr>
          <p:cNvPicPr>
            <a:picLocks noGrp="1" noChangeAspect="1"/>
          </p:cNvPicPr>
          <p:nvPr>
            <p:ph sz="quarter" idx="1"/>
          </p:nvPr>
        </p:nvPicPr>
        <p:blipFill>
          <a:blip r:embed="rId2"/>
          <a:srcRect/>
          <a:stretch>
            <a:fillRect/>
          </a:stretch>
        </p:blipFill>
        <p:spPr bwMode="auto">
          <a:xfrm>
            <a:off x="237774" y="706121"/>
            <a:ext cx="5592985" cy="3144519"/>
          </a:xfrm>
          <a:prstGeom prst="rect">
            <a:avLst/>
          </a:prstGeom>
          <a:noFill/>
          <a:ln w="9525">
            <a:noFill/>
            <a:miter lim="800000"/>
            <a:headEnd/>
            <a:tailEnd/>
          </a:ln>
        </p:spPr>
      </p:pic>
      <p:pic>
        <p:nvPicPr>
          <p:cNvPr id="5" name="Picture 4">
            <a:extLst>
              <a:ext uri="{FF2B5EF4-FFF2-40B4-BE49-F238E27FC236}">
                <a16:creationId xmlns:a16="http://schemas.microsoft.com/office/drawing/2014/main" id="{2748DDCE-5082-D1D6-40C2-A0E935CDB478}"/>
              </a:ext>
            </a:extLst>
          </p:cNvPr>
          <p:cNvPicPr>
            <a:picLocks noChangeAspect="1"/>
          </p:cNvPicPr>
          <p:nvPr/>
        </p:nvPicPr>
        <p:blipFill>
          <a:blip r:embed="rId3"/>
          <a:srcRect/>
          <a:stretch>
            <a:fillRect/>
          </a:stretch>
        </p:blipFill>
        <p:spPr bwMode="auto">
          <a:xfrm>
            <a:off x="5988050" y="706121"/>
            <a:ext cx="5763260" cy="3239135"/>
          </a:xfrm>
          <a:prstGeom prst="rect">
            <a:avLst/>
          </a:prstGeom>
          <a:noFill/>
          <a:ln w="9525">
            <a:noFill/>
            <a:miter lim="800000"/>
            <a:headEnd/>
            <a:tailEnd/>
          </a:ln>
        </p:spPr>
      </p:pic>
      <p:pic>
        <p:nvPicPr>
          <p:cNvPr id="6" name="Picture 5" descr="A screenshot of a search box&#10;&#10;AI-generated content may be incorrect.">
            <a:extLst>
              <a:ext uri="{FF2B5EF4-FFF2-40B4-BE49-F238E27FC236}">
                <a16:creationId xmlns:a16="http://schemas.microsoft.com/office/drawing/2014/main" id="{3C4D9317-3954-8108-A6C3-4C1207BE6BA9}"/>
              </a:ext>
            </a:extLst>
          </p:cNvPr>
          <p:cNvPicPr>
            <a:picLocks noChangeAspect="1"/>
          </p:cNvPicPr>
          <p:nvPr/>
        </p:nvPicPr>
        <p:blipFill>
          <a:blip r:embed="rId4"/>
          <a:srcRect/>
          <a:stretch>
            <a:fillRect/>
          </a:stretch>
        </p:blipFill>
        <p:spPr bwMode="auto">
          <a:xfrm>
            <a:off x="3214370" y="3801745"/>
            <a:ext cx="5763260" cy="3056255"/>
          </a:xfrm>
          <a:prstGeom prst="rect">
            <a:avLst/>
          </a:prstGeom>
          <a:noFill/>
          <a:ln w="9525">
            <a:noFill/>
            <a:miter lim="800000"/>
            <a:headEnd/>
            <a:tailEnd/>
          </a:ln>
        </p:spPr>
      </p:pic>
      <p:sp>
        <p:nvSpPr>
          <p:cNvPr id="7" name="TextBox 6">
            <a:extLst>
              <a:ext uri="{FF2B5EF4-FFF2-40B4-BE49-F238E27FC236}">
                <a16:creationId xmlns:a16="http://schemas.microsoft.com/office/drawing/2014/main" id="{9ABAACD7-D704-AB79-3142-443391AA43B1}"/>
              </a:ext>
            </a:extLst>
          </p:cNvPr>
          <p:cNvSpPr txBox="1"/>
          <p:nvPr/>
        </p:nvSpPr>
        <p:spPr>
          <a:xfrm>
            <a:off x="3881120" y="71120"/>
            <a:ext cx="3233578" cy="369332"/>
          </a:xfrm>
          <a:prstGeom prst="rect">
            <a:avLst/>
          </a:prstGeom>
          <a:noFill/>
        </p:spPr>
        <p:txBody>
          <a:bodyPr wrap="none" rtlCol="0">
            <a:spAutoFit/>
          </a:bodyPr>
          <a:lstStyle/>
          <a:p>
            <a:r>
              <a:rPr lang="en-US" dirty="0"/>
              <a:t>Donors and Search Function</a:t>
            </a:r>
            <a:endParaRPr lang="en-IN" dirty="0"/>
          </a:p>
        </p:txBody>
      </p:sp>
    </p:spTree>
    <p:extLst>
      <p:ext uri="{BB962C8B-B14F-4D97-AF65-F5344CB8AC3E}">
        <p14:creationId xmlns:p14="http://schemas.microsoft.com/office/powerpoint/2010/main" val="3993487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098847-3F55-C6DE-0FA1-7763C4E7C463}"/>
              </a:ext>
            </a:extLst>
          </p:cNvPr>
          <p:cNvPicPr>
            <a:picLocks noChangeAspect="1"/>
          </p:cNvPicPr>
          <p:nvPr/>
        </p:nvPicPr>
        <p:blipFill>
          <a:blip r:embed="rId2"/>
          <a:srcRect/>
          <a:stretch>
            <a:fillRect/>
          </a:stretch>
        </p:blipFill>
        <p:spPr bwMode="auto">
          <a:xfrm>
            <a:off x="217170" y="559197"/>
            <a:ext cx="5763260" cy="2955210"/>
          </a:xfrm>
          <a:prstGeom prst="rect">
            <a:avLst/>
          </a:prstGeom>
          <a:noFill/>
          <a:ln w="9525">
            <a:noFill/>
            <a:miter lim="800000"/>
            <a:headEnd/>
            <a:tailEnd/>
          </a:ln>
        </p:spPr>
      </p:pic>
      <p:pic>
        <p:nvPicPr>
          <p:cNvPr id="5" name="Picture 4">
            <a:extLst>
              <a:ext uri="{FF2B5EF4-FFF2-40B4-BE49-F238E27FC236}">
                <a16:creationId xmlns:a16="http://schemas.microsoft.com/office/drawing/2014/main" id="{1A3356EC-9F92-7E2D-407A-879F74641A45}"/>
              </a:ext>
            </a:extLst>
          </p:cNvPr>
          <p:cNvPicPr>
            <a:picLocks noChangeAspect="1"/>
          </p:cNvPicPr>
          <p:nvPr/>
        </p:nvPicPr>
        <p:blipFill>
          <a:blip r:embed="rId3"/>
          <a:srcRect/>
          <a:stretch>
            <a:fillRect/>
          </a:stretch>
        </p:blipFill>
        <p:spPr bwMode="auto">
          <a:xfrm>
            <a:off x="5980430" y="559197"/>
            <a:ext cx="5763260" cy="3054469"/>
          </a:xfrm>
          <a:prstGeom prst="rect">
            <a:avLst/>
          </a:prstGeom>
          <a:noFill/>
          <a:ln w="9525">
            <a:noFill/>
            <a:miter lim="800000"/>
            <a:headEnd/>
            <a:tailEnd/>
          </a:ln>
        </p:spPr>
      </p:pic>
      <p:pic>
        <p:nvPicPr>
          <p:cNvPr id="6" name="Picture 5" descr="A screenshot of a computer&#10;&#10;AI-generated content may be incorrect.">
            <a:extLst>
              <a:ext uri="{FF2B5EF4-FFF2-40B4-BE49-F238E27FC236}">
                <a16:creationId xmlns:a16="http://schemas.microsoft.com/office/drawing/2014/main" id="{8A71A8E6-6A3E-6150-BE32-7229AEA413D8}"/>
              </a:ext>
            </a:extLst>
          </p:cNvPr>
          <p:cNvPicPr>
            <a:picLocks noChangeAspect="1"/>
          </p:cNvPicPr>
          <p:nvPr/>
        </p:nvPicPr>
        <p:blipFill>
          <a:blip r:embed="rId4"/>
          <a:srcRect/>
          <a:stretch>
            <a:fillRect/>
          </a:stretch>
        </p:blipFill>
        <p:spPr bwMode="auto">
          <a:xfrm>
            <a:off x="3098800" y="3514407"/>
            <a:ext cx="5763260" cy="3153728"/>
          </a:xfrm>
          <a:prstGeom prst="rect">
            <a:avLst/>
          </a:prstGeom>
          <a:noFill/>
          <a:ln w="9525">
            <a:noFill/>
            <a:miter lim="800000"/>
            <a:headEnd/>
            <a:tailEnd/>
          </a:ln>
        </p:spPr>
      </p:pic>
      <p:sp>
        <p:nvSpPr>
          <p:cNvPr id="7" name="TextBox 6">
            <a:extLst>
              <a:ext uri="{FF2B5EF4-FFF2-40B4-BE49-F238E27FC236}">
                <a16:creationId xmlns:a16="http://schemas.microsoft.com/office/drawing/2014/main" id="{5E35E0F8-9D10-AE42-376B-1C671CDFB651}"/>
              </a:ext>
            </a:extLst>
          </p:cNvPr>
          <p:cNvSpPr txBox="1"/>
          <p:nvPr/>
        </p:nvSpPr>
        <p:spPr>
          <a:xfrm>
            <a:off x="4307892" y="189865"/>
            <a:ext cx="3113353" cy="369332"/>
          </a:xfrm>
          <a:prstGeom prst="rect">
            <a:avLst/>
          </a:prstGeom>
          <a:noFill/>
        </p:spPr>
        <p:txBody>
          <a:bodyPr wrap="none" rtlCol="0">
            <a:spAutoFit/>
          </a:bodyPr>
          <a:lstStyle/>
          <a:p>
            <a:r>
              <a:rPr lang="en-US" dirty="0"/>
              <a:t>Account Update and Delete</a:t>
            </a:r>
            <a:endParaRPr lang="en-IN" dirty="0"/>
          </a:p>
        </p:txBody>
      </p:sp>
    </p:spTree>
    <p:extLst>
      <p:ext uri="{BB962C8B-B14F-4D97-AF65-F5344CB8AC3E}">
        <p14:creationId xmlns:p14="http://schemas.microsoft.com/office/powerpoint/2010/main" val="3738856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5A7D36FF-D9BF-4DB5-DC55-74BD87AF7286}"/>
              </a:ext>
            </a:extLst>
          </p:cNvPr>
          <p:cNvPicPr>
            <a:picLocks noChangeAspect="1"/>
          </p:cNvPicPr>
          <p:nvPr/>
        </p:nvPicPr>
        <p:blipFill>
          <a:blip r:embed="rId2"/>
          <a:srcRect/>
          <a:stretch>
            <a:fillRect/>
          </a:stretch>
        </p:blipFill>
        <p:spPr bwMode="auto">
          <a:xfrm>
            <a:off x="332740" y="580071"/>
            <a:ext cx="5458460" cy="2848929"/>
          </a:xfrm>
          <a:prstGeom prst="rect">
            <a:avLst/>
          </a:prstGeom>
          <a:noFill/>
          <a:ln w="9525">
            <a:noFill/>
            <a:miter lim="800000"/>
            <a:headEnd/>
            <a:tailEnd/>
          </a:ln>
        </p:spPr>
      </p:pic>
      <p:pic>
        <p:nvPicPr>
          <p:cNvPr id="5" name="Picture 4" descr="A screenshot of a computer&#10;&#10;AI-generated content may be incorrect.">
            <a:extLst>
              <a:ext uri="{FF2B5EF4-FFF2-40B4-BE49-F238E27FC236}">
                <a16:creationId xmlns:a16="http://schemas.microsoft.com/office/drawing/2014/main" id="{45B539EF-5D03-7B7E-27D4-C37D0DF6D9C1}"/>
              </a:ext>
            </a:extLst>
          </p:cNvPr>
          <p:cNvPicPr>
            <a:picLocks noChangeAspect="1"/>
          </p:cNvPicPr>
          <p:nvPr/>
        </p:nvPicPr>
        <p:blipFill>
          <a:blip r:embed="rId3"/>
          <a:srcRect/>
          <a:stretch>
            <a:fillRect/>
          </a:stretch>
        </p:blipFill>
        <p:spPr bwMode="auto">
          <a:xfrm>
            <a:off x="5896610" y="580071"/>
            <a:ext cx="5763260" cy="2848929"/>
          </a:xfrm>
          <a:prstGeom prst="rect">
            <a:avLst/>
          </a:prstGeom>
          <a:noFill/>
          <a:ln w="9525">
            <a:noFill/>
            <a:miter lim="800000"/>
            <a:headEnd/>
            <a:tailEnd/>
          </a:ln>
        </p:spPr>
      </p:pic>
      <p:pic>
        <p:nvPicPr>
          <p:cNvPr id="6" name="Picture 5" descr="A screenshot of a computer&#10;&#10;AI-generated content may be incorrect.">
            <a:extLst>
              <a:ext uri="{FF2B5EF4-FFF2-40B4-BE49-F238E27FC236}">
                <a16:creationId xmlns:a16="http://schemas.microsoft.com/office/drawing/2014/main" id="{9F7866AA-8B6C-8BE3-8421-E1029F617BA2}"/>
              </a:ext>
            </a:extLst>
          </p:cNvPr>
          <p:cNvPicPr>
            <a:picLocks noChangeAspect="1"/>
          </p:cNvPicPr>
          <p:nvPr/>
        </p:nvPicPr>
        <p:blipFill>
          <a:blip r:embed="rId3"/>
          <a:srcRect/>
          <a:stretch>
            <a:fillRect/>
          </a:stretch>
        </p:blipFill>
        <p:spPr bwMode="auto">
          <a:xfrm>
            <a:off x="3014980" y="3511234"/>
            <a:ext cx="5763260" cy="3239135"/>
          </a:xfrm>
          <a:prstGeom prst="rect">
            <a:avLst/>
          </a:prstGeom>
          <a:noFill/>
          <a:ln w="9525">
            <a:noFill/>
            <a:miter lim="800000"/>
            <a:headEnd/>
            <a:tailEnd/>
          </a:ln>
        </p:spPr>
      </p:pic>
      <p:sp>
        <p:nvSpPr>
          <p:cNvPr id="8" name="TextBox 7">
            <a:extLst>
              <a:ext uri="{FF2B5EF4-FFF2-40B4-BE49-F238E27FC236}">
                <a16:creationId xmlns:a16="http://schemas.microsoft.com/office/drawing/2014/main" id="{E618AC52-5C69-A2BE-6672-FE95CFF22358}"/>
              </a:ext>
            </a:extLst>
          </p:cNvPr>
          <p:cNvSpPr txBox="1"/>
          <p:nvPr/>
        </p:nvSpPr>
        <p:spPr>
          <a:xfrm>
            <a:off x="4745950" y="169622"/>
            <a:ext cx="1511952" cy="369332"/>
          </a:xfrm>
          <a:prstGeom prst="rect">
            <a:avLst/>
          </a:prstGeom>
          <a:noFill/>
        </p:spPr>
        <p:txBody>
          <a:bodyPr wrap="none" rtlCol="0">
            <a:spAutoFit/>
          </a:bodyPr>
          <a:lstStyle/>
          <a:p>
            <a:r>
              <a:rPr lang="en-US" dirty="0"/>
              <a:t>Notification </a:t>
            </a:r>
            <a:endParaRPr lang="en-IN" dirty="0"/>
          </a:p>
        </p:txBody>
      </p:sp>
    </p:spTree>
    <p:extLst>
      <p:ext uri="{BB962C8B-B14F-4D97-AF65-F5344CB8AC3E}">
        <p14:creationId xmlns:p14="http://schemas.microsoft.com/office/powerpoint/2010/main" val="2309127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11CB9-CC12-FFB9-C0E8-D50D1C2656E5}"/>
              </a:ext>
            </a:extLst>
          </p:cNvPr>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9859370-1713-CF56-3BCF-3DE9F16CEF6A}"/>
              </a:ext>
            </a:extLst>
          </p:cNvPr>
          <p:cNvSpPr>
            <a:spLocks noGrp="1"/>
          </p:cNvSpPr>
          <p:nvPr>
            <p:ph sz="quarter" idx="1"/>
          </p:nvPr>
        </p:nvSpPr>
        <p:spPr>
          <a:xfrm>
            <a:off x="545685" y="1968052"/>
            <a:ext cx="8915400" cy="2209800"/>
          </a:xfrm>
        </p:spPr>
        <p:txBody>
          <a:bodyPr>
            <a:normAutofit/>
          </a:bodyPr>
          <a:lstStyle/>
          <a:p>
            <a:pPr algn="just"/>
            <a:r>
              <a:rPr lang="en-IN" sz="2000" dirty="0">
                <a:latin typeface="Times New Roman" pitchFamily="18" charset="0"/>
                <a:cs typeface="Times New Roman" pitchFamily="18" charset="0"/>
              </a:rPr>
              <a:t>The Blood Bank System ensures a smooth and efficient blood donation process by connecting donors with those in need. It simplifies donor registration, search, and availability tracking, making blood donation more accessible. With future enhancements like AI matching and real-time notifications, the system can become even more effective in saving lives.</a:t>
            </a:r>
          </a:p>
        </p:txBody>
      </p:sp>
    </p:spTree>
    <p:extLst>
      <p:ext uri="{BB962C8B-B14F-4D97-AF65-F5344CB8AC3E}">
        <p14:creationId xmlns:p14="http://schemas.microsoft.com/office/powerpoint/2010/main" val="1685664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C839B4C-817F-2021-948F-026555317B20}"/>
              </a:ext>
            </a:extLst>
          </p:cNvPr>
          <p:cNvSpPr txBox="1"/>
          <p:nvPr/>
        </p:nvSpPr>
        <p:spPr>
          <a:xfrm>
            <a:off x="3693457" y="2459504"/>
            <a:ext cx="5643583" cy="1015663"/>
          </a:xfrm>
          <a:prstGeom prst="rect">
            <a:avLst/>
          </a:prstGeom>
          <a:noFill/>
        </p:spPr>
        <p:txBody>
          <a:bodyPr wrap="square" rtlCol="0">
            <a:spAutoFit/>
          </a:bodyPr>
          <a:lstStyle/>
          <a:p>
            <a:r>
              <a:rPr lang="en-US" sz="6000" u="sng">
                <a:latin typeface="Felix Titling" panose="04060505060202020A04" pitchFamily="82" charset="0"/>
              </a:rPr>
              <a:t>Thank you</a:t>
            </a:r>
            <a:endParaRPr lang="en-US" sz="6000" u="sng" dirty="0">
              <a:latin typeface="Felix Titling" panose="04060505060202020A04" pitchFamily="82" charset="0"/>
            </a:endParaRPr>
          </a:p>
        </p:txBody>
      </p:sp>
    </p:spTree>
    <p:extLst>
      <p:ext uri="{BB962C8B-B14F-4D97-AF65-F5344CB8AC3E}">
        <p14:creationId xmlns:p14="http://schemas.microsoft.com/office/powerpoint/2010/main" val="9439361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298</TotalTime>
  <Words>1024</Words>
  <Application>Microsoft Office PowerPoint</Application>
  <PresentationFormat>Widescreen</PresentationFormat>
  <Paragraphs>102</Paragraphs>
  <Slides>19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Aptos</vt:lpstr>
      <vt:lpstr>Arial Rounded MT Bold</vt:lpstr>
      <vt:lpstr>Century Schoolbook</vt:lpstr>
      <vt:lpstr>Courier New</vt:lpstr>
      <vt:lpstr>Felix Titling</vt:lpstr>
      <vt:lpstr>Roboto</vt:lpstr>
      <vt:lpstr>Times New Roman</vt:lpstr>
      <vt:lpstr>Wingdings</vt:lpstr>
      <vt:lpstr>Wingdings 2</vt:lpstr>
      <vt:lpstr>Oriel</vt:lpstr>
      <vt:lpstr>PowerPoint Presentation</vt:lpstr>
      <vt:lpstr>Contents</vt:lpstr>
      <vt:lpstr> Introduction</vt:lpstr>
      <vt:lpstr>Abstract of Project  </vt:lpstr>
      <vt:lpstr>OBJECTIVE</vt:lpstr>
      <vt:lpstr>Advantages </vt:lpstr>
      <vt:lpstr>Disadvantages</vt:lpstr>
      <vt:lpstr>Problem statement</vt:lpstr>
      <vt:lpstr>Future Scope </vt:lpstr>
      <vt:lpstr>User Login                                                                                  </vt:lpstr>
      <vt:lpstr>Search for Donors</vt:lpstr>
      <vt:lpstr>Use Case Diagram</vt:lpstr>
      <vt:lpstr>Data Flow Diagram</vt:lpstr>
      <vt:lpstr>User Authentication</vt:lpstr>
      <vt:lpstr>PowerPoint Presentation</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akash talikoti</dc:creator>
  <cp:lastModifiedBy>Aditya Mane</cp:lastModifiedBy>
  <cp:revision>73</cp:revision>
  <dcterms:created xsi:type="dcterms:W3CDTF">2025-02-19T14:07:42Z</dcterms:created>
  <dcterms:modified xsi:type="dcterms:W3CDTF">2025-04-26T06:57:53Z</dcterms:modified>
</cp:coreProperties>
</file>