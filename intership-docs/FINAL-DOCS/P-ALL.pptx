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0F845B-EA7D-49CC-B857-75242DD480C6}">
          <p14:sldIdLst>
            <p14:sldId id="256"/>
            <p14:sldId id="257"/>
            <p14:sldId id="258"/>
            <p14:sldId id="259"/>
            <p14:sldId id="260"/>
            <p14:sldId id="261"/>
            <p14:sldId id="262"/>
            <p14:sldId id="263"/>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48922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454512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032789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C55BC4-8BD2-4205-A97C-C722CD6D6903}"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512416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C55BC4-8BD2-4205-A97C-C722CD6D6903}" type="datetimeFigureOut">
              <a:rPr lang="en-IN" smtClean="0"/>
              <a:t>26-04-2025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01864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C55BC4-8BD2-4205-A97C-C722CD6D6903}" type="datetimeFigureOut">
              <a:rPr lang="en-IN" smtClean="0"/>
              <a:t>26-04-2025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361834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C55BC4-8BD2-4205-A97C-C722CD6D6903}" type="datetimeFigureOut">
              <a:rPr lang="en-IN" smtClean="0"/>
              <a:t>26-04-2025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169621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C55BC4-8BD2-4205-A97C-C722CD6D6903}"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43094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C55BC4-8BD2-4205-A97C-C722CD6D6903}"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9964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39727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25327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207994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31408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6884732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1389295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3790278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C55BC4-8BD2-4205-A97C-C722CD6D6903}" type="datetimeFigureOut">
              <a:rPr lang="en-IN" smtClean="0"/>
              <a:t>26-04-2025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A4CF5CF-2F77-4CF7-B4C0-7AB93C9AB39D}" type="slidenum">
              <a:rPr lang="en-IN" smtClean="0"/>
              <a:t>‹#›</a:t>
            </a:fld>
            <a:endParaRPr lang="en-IN"/>
          </a:p>
        </p:txBody>
      </p:sp>
    </p:spTree>
    <p:extLst>
      <p:ext uri="{BB962C8B-B14F-4D97-AF65-F5344CB8AC3E}">
        <p14:creationId xmlns:p14="http://schemas.microsoft.com/office/powerpoint/2010/main" val="2535718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116303C2-1E17-2364-E8B9-08FD0EC1FBF7}"/>
              </a:ext>
            </a:extLst>
          </p:cNvPr>
          <p:cNvSpPr>
            <a:spLocks noGrp="1"/>
          </p:cNvSpPr>
          <p:nvPr>
            <p:ph type="ctrTitle"/>
          </p:nvPr>
        </p:nvSpPr>
        <p:spPr>
          <a:xfrm>
            <a:off x="4349123" y="609600"/>
            <a:ext cx="4924878" cy="1320800"/>
          </a:xfrm>
        </p:spPr>
        <p:txBody>
          <a:bodyPr vert="horz" lIns="91440" tIns="45720" rIns="91440" bIns="45720" rtlCol="0" anchor="ctr">
            <a:normAutofit/>
          </a:bodyPr>
          <a:lstStyle/>
          <a:p>
            <a:pPr algn="l"/>
            <a:r>
              <a:rPr lang="en-US" sz="3600" dirty="0">
                <a:latin typeface="Roboto" panose="02000000000000000000" pitchFamily="2" charset="0"/>
                <a:ea typeface="Roboto" panose="02000000000000000000" pitchFamily="2" charset="0"/>
                <a:cs typeface="Roboto" panose="02000000000000000000" pitchFamily="2" charset="0"/>
              </a:rPr>
              <a:t>Welcome to </a:t>
            </a:r>
            <a:r>
              <a:rPr lang="en-US" sz="3600" dirty="0" err="1">
                <a:latin typeface="Roboto" panose="02000000000000000000" pitchFamily="2" charset="0"/>
                <a:ea typeface="Roboto" panose="02000000000000000000" pitchFamily="2" charset="0"/>
                <a:cs typeface="Roboto" panose="02000000000000000000" pitchFamily="2" charset="0"/>
              </a:rPr>
              <a:t>Pranaksh</a:t>
            </a:r>
            <a:r>
              <a:rPr lang="en-US" sz="3600" dirty="0">
                <a:latin typeface="Roboto" panose="02000000000000000000" pitchFamily="2" charset="0"/>
                <a:ea typeface="Roboto" panose="02000000000000000000" pitchFamily="2" charset="0"/>
                <a:cs typeface="Roboto" panose="02000000000000000000" pitchFamily="2" charset="0"/>
              </a:rPr>
              <a:t> Technologies</a:t>
            </a:r>
          </a:p>
        </p:txBody>
      </p:sp>
      <p:pic>
        <p:nvPicPr>
          <p:cNvPr id="4" name="Picture 3">
            <a:extLst>
              <a:ext uri="{FF2B5EF4-FFF2-40B4-BE49-F238E27FC236}">
                <a16:creationId xmlns:a16="http://schemas.microsoft.com/office/drawing/2014/main" id="{45128263-1B3C-1A9B-D953-777BACFB3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814" y="831781"/>
            <a:ext cx="3251701" cy="5041392"/>
          </a:xfrm>
          <a:prstGeom prst="rect">
            <a:avLst/>
          </a:prstGeom>
        </p:spPr>
      </p:pic>
      <p:sp>
        <p:nvSpPr>
          <p:cNvPr id="3" name="Subtitle 2">
            <a:extLst>
              <a:ext uri="{FF2B5EF4-FFF2-40B4-BE49-F238E27FC236}">
                <a16:creationId xmlns:a16="http://schemas.microsoft.com/office/drawing/2014/main" id="{CABCD222-00FA-993F-1BE4-66CC2BBB376A}"/>
              </a:ext>
            </a:extLst>
          </p:cNvPr>
          <p:cNvSpPr>
            <a:spLocks noGrp="1"/>
          </p:cNvSpPr>
          <p:nvPr>
            <p:ph type="subTitle" idx="1"/>
          </p:nvPr>
        </p:nvSpPr>
        <p:spPr>
          <a:xfrm>
            <a:off x="4349123" y="2160590"/>
            <a:ext cx="4921876" cy="3739698"/>
          </a:xfrm>
        </p:spPr>
        <p:txBody>
          <a:bodyPr vert="horz" lIns="91440" tIns="45720" rIns="91440" bIns="45720" rtlCol="0">
            <a:normAutofit/>
          </a:bodyPr>
          <a:lstStyle/>
          <a:p>
            <a:pPr algn="l"/>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Presentation By;</a:t>
            </a: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Adarsh Kokane</a:t>
            </a: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Aditya Mane</a:t>
            </a: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Prathamesh </a:t>
            </a:r>
            <a:r>
              <a:rPr lang="en-US" dirty="0" err="1">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Devarkar</a:t>
            </a:r>
            <a:endPar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Soham More</a:t>
            </a:r>
          </a:p>
        </p:txBody>
      </p:sp>
    </p:spTree>
    <p:extLst>
      <p:ext uri="{BB962C8B-B14F-4D97-AF65-F5344CB8AC3E}">
        <p14:creationId xmlns:p14="http://schemas.microsoft.com/office/powerpoint/2010/main" val="482801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439D-B29C-BD20-CD58-461477F0790F}"/>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INDEX</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87E688F-73F7-4C55-30C0-6C703C19492E}"/>
              </a:ext>
            </a:extLst>
          </p:cNvPr>
          <p:cNvSpPr>
            <a:spLocks noGrp="1"/>
          </p:cNvSpPr>
          <p:nvPr>
            <p:ph idx="1"/>
          </p:nvPr>
        </p:nvSpPr>
        <p:spPr>
          <a:xfrm>
            <a:off x="677334" y="1930400"/>
            <a:ext cx="8596668" cy="3880773"/>
          </a:xfrm>
        </p:spPr>
        <p:txBody>
          <a:bodyPr/>
          <a:lstStyle/>
          <a:p>
            <a:r>
              <a:rPr lang="en-US" dirty="0">
                <a:latin typeface="Roboto" panose="02000000000000000000" pitchFamily="2" charset="0"/>
                <a:ea typeface="Roboto" panose="02000000000000000000" pitchFamily="2" charset="0"/>
                <a:cs typeface="Roboto" panose="02000000000000000000" pitchFamily="2" charset="0"/>
              </a:rPr>
              <a:t>INTRODUCTION</a:t>
            </a:r>
          </a:p>
          <a:p>
            <a:r>
              <a:rPr lang="en-US" dirty="0">
                <a:latin typeface="Roboto" panose="02000000000000000000" pitchFamily="2" charset="0"/>
                <a:ea typeface="Roboto" panose="02000000000000000000" pitchFamily="2" charset="0"/>
                <a:cs typeface="Roboto" panose="02000000000000000000" pitchFamily="2" charset="0"/>
              </a:rPr>
              <a:t>OVERVIEW OF THE OGANIZATION</a:t>
            </a:r>
          </a:p>
          <a:p>
            <a:r>
              <a:rPr lang="en-US" dirty="0">
                <a:latin typeface="Roboto" panose="02000000000000000000" pitchFamily="2" charset="0"/>
                <a:ea typeface="Roboto" panose="02000000000000000000" pitchFamily="2" charset="0"/>
                <a:cs typeface="Roboto" panose="02000000000000000000" pitchFamily="2" charset="0"/>
              </a:rPr>
              <a:t>VISION</a:t>
            </a:r>
          </a:p>
          <a:p>
            <a:r>
              <a:rPr lang="en-US" dirty="0">
                <a:latin typeface="Roboto" panose="02000000000000000000" pitchFamily="2" charset="0"/>
                <a:ea typeface="Roboto" panose="02000000000000000000" pitchFamily="2" charset="0"/>
                <a:cs typeface="Roboto" panose="02000000000000000000" pitchFamily="2" charset="0"/>
              </a:rPr>
              <a:t>MISSION</a:t>
            </a:r>
          </a:p>
          <a:p>
            <a:r>
              <a:rPr lang="en-IN" dirty="0">
                <a:latin typeface="Roboto" panose="02000000000000000000" pitchFamily="2" charset="0"/>
                <a:ea typeface="Roboto" panose="02000000000000000000" pitchFamily="2" charset="0"/>
                <a:cs typeface="Roboto" panose="02000000000000000000" pitchFamily="2" charset="0"/>
              </a:rPr>
              <a:t>ORGANIZATION STRUCTURE</a:t>
            </a:r>
          </a:p>
          <a:p>
            <a:r>
              <a:rPr lang="en-IN" dirty="0">
                <a:latin typeface="Roboto" panose="02000000000000000000" pitchFamily="2" charset="0"/>
                <a:ea typeface="Roboto" panose="02000000000000000000" pitchFamily="2" charset="0"/>
                <a:cs typeface="Roboto" panose="02000000000000000000" pitchFamily="2" charset="0"/>
              </a:rPr>
              <a:t>ROLES AND RESPONSIBILITES</a:t>
            </a:r>
          </a:p>
          <a:p>
            <a:r>
              <a:rPr lang="en-IN" dirty="0">
                <a:latin typeface="Roboto" panose="02000000000000000000" pitchFamily="2" charset="0"/>
                <a:ea typeface="Roboto" panose="02000000000000000000" pitchFamily="2" charset="0"/>
                <a:cs typeface="Roboto" panose="02000000000000000000" pitchFamily="2" charset="0"/>
              </a:rPr>
              <a:t>OJT-1</a:t>
            </a:r>
          </a:p>
          <a:p>
            <a:r>
              <a:rPr lang="en-IN" dirty="0">
                <a:latin typeface="Roboto" panose="02000000000000000000" pitchFamily="2" charset="0"/>
                <a:ea typeface="Roboto" panose="02000000000000000000" pitchFamily="2" charset="0"/>
                <a:cs typeface="Roboto" panose="02000000000000000000" pitchFamily="2" charset="0"/>
              </a:rPr>
              <a:t>OJT-2</a:t>
            </a:r>
          </a:p>
        </p:txBody>
      </p:sp>
    </p:spTree>
    <p:extLst>
      <p:ext uri="{BB962C8B-B14F-4D97-AF65-F5344CB8AC3E}">
        <p14:creationId xmlns:p14="http://schemas.microsoft.com/office/powerpoint/2010/main" val="23271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F4B3-4BE8-EB34-F405-D3C859F065DB}"/>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INTRODUCTION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2E96A6A-DD90-6016-7327-D8EA257A8AF5}"/>
              </a:ext>
            </a:extLst>
          </p:cNvPr>
          <p:cNvSpPr>
            <a:spLocks noGrp="1"/>
          </p:cNvSpPr>
          <p:nvPr>
            <p:ph idx="1"/>
          </p:nvPr>
        </p:nvSpPr>
        <p:spPr/>
        <p:txBody>
          <a:bodyPr/>
          <a:lstStyle/>
          <a:p>
            <a:pPr algn="just">
              <a:lnSpc>
                <a:spcPct val="150000"/>
              </a:lnSpc>
            </a:pPr>
            <a:r>
              <a:rPr lang="en-US" b="1" dirty="0" err="1">
                <a:latin typeface="Roboto" panose="02000000000000000000" pitchFamily="2" charset="0"/>
                <a:ea typeface="Roboto" panose="02000000000000000000" pitchFamily="2" charset="0"/>
                <a:cs typeface="Roboto" panose="02000000000000000000" pitchFamily="2" charset="0"/>
              </a:rPr>
              <a:t>Pranaksh</a:t>
            </a:r>
            <a:r>
              <a:rPr lang="en-US" b="1" dirty="0">
                <a:latin typeface="Roboto" panose="02000000000000000000" pitchFamily="2" charset="0"/>
                <a:ea typeface="Roboto" panose="02000000000000000000" pitchFamily="2" charset="0"/>
                <a:cs typeface="Roboto" panose="02000000000000000000" pitchFamily="2" charset="0"/>
              </a:rPr>
              <a:t> Technologies</a:t>
            </a:r>
            <a:r>
              <a:rPr lang="en-US" dirty="0">
                <a:latin typeface="Roboto" panose="02000000000000000000" pitchFamily="2" charset="0"/>
                <a:ea typeface="Roboto" panose="02000000000000000000" pitchFamily="2" charset="0"/>
                <a:cs typeface="Roboto" panose="02000000000000000000" pitchFamily="2" charset="0"/>
              </a:rPr>
              <a:t> is an innovative technology and consulting firm that focuses on providing cutting-edge solutions in software development, digital marketing, and academic training. Founded in 2023 and based in Belagavi, Karnataka, India, </a:t>
            </a:r>
            <a:r>
              <a:rPr lang="en-US" dirty="0" err="1">
                <a:latin typeface="Roboto" panose="02000000000000000000" pitchFamily="2" charset="0"/>
                <a:ea typeface="Roboto" panose="02000000000000000000" pitchFamily="2" charset="0"/>
                <a:cs typeface="Roboto" panose="02000000000000000000" pitchFamily="2" charset="0"/>
              </a:rPr>
              <a:t>Pranaksh</a:t>
            </a:r>
            <a:r>
              <a:rPr lang="en-US" dirty="0">
                <a:latin typeface="Roboto" panose="02000000000000000000" pitchFamily="2" charset="0"/>
                <a:ea typeface="Roboto" panose="02000000000000000000" pitchFamily="2" charset="0"/>
                <a:cs typeface="Roboto" panose="02000000000000000000" pitchFamily="2" charset="0"/>
              </a:rPr>
              <a:t> Technologies serves a wide range of clients, helping them navigate the ever-evolving landscape of technology.</a:t>
            </a: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896153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E472-0F37-BCFE-3B51-077DA382DC01}"/>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Overview OF The Organization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EB48BBC3-A33E-6118-261B-B36D50702386}"/>
              </a:ext>
            </a:extLst>
          </p:cNvPr>
          <p:cNvSpPr>
            <a:spLocks noGrp="1"/>
          </p:cNvSpPr>
          <p:nvPr>
            <p:ph idx="1"/>
          </p:nvPr>
        </p:nvSpPr>
        <p:spPr>
          <a:xfrm>
            <a:off x="677335" y="1796716"/>
            <a:ext cx="10102960" cy="4014457"/>
          </a:xfrm>
        </p:spPr>
        <p:txBody>
          <a:bodyPr>
            <a:normAutofit/>
          </a:bodyPr>
          <a:lstStyle/>
          <a:p>
            <a:pPr>
              <a:lnSpc>
                <a:spcPct val="150000"/>
              </a:lnSpc>
            </a:pPr>
            <a:r>
              <a:rPr lang="en-US" dirty="0" err="1">
                <a:latin typeface="Roboto" panose="02000000000000000000" pitchFamily="2" charset="0"/>
                <a:ea typeface="Roboto" panose="02000000000000000000" pitchFamily="2" charset="0"/>
                <a:cs typeface="Roboto" panose="02000000000000000000" pitchFamily="2" charset="0"/>
              </a:rPr>
              <a:t>Pranaksh</a:t>
            </a:r>
            <a:r>
              <a:rPr lang="en-US" dirty="0">
                <a:latin typeface="Roboto" panose="02000000000000000000" pitchFamily="2" charset="0"/>
                <a:ea typeface="Roboto" panose="02000000000000000000" pitchFamily="2" charset="0"/>
                <a:cs typeface="Roboto" panose="02000000000000000000" pitchFamily="2" charset="0"/>
              </a:rPr>
              <a:t> Technologies was established in 2023, initially focusing on educational technology (EdTech) services tailored for IT companies. Over time, the company has expanded its expertise to encompass a range of technological domains, including Software Development, Artificial Intelligence (AI),Embedded Systems, Cybersecurity, Internet of Things (IoT)​</a:t>
            </a:r>
          </a:p>
          <a:p>
            <a:pPr>
              <a:lnSpc>
                <a:spcPct val="150000"/>
              </a:lnSpc>
            </a:pPr>
            <a:r>
              <a:rPr lang="en-US" dirty="0">
                <a:latin typeface="Roboto" panose="02000000000000000000" pitchFamily="2" charset="0"/>
                <a:ea typeface="Roboto" panose="02000000000000000000" pitchFamily="2" charset="0"/>
                <a:cs typeface="Roboto" panose="02000000000000000000" pitchFamily="2" charset="0"/>
              </a:rPr>
              <a:t>This evolution has positioned </a:t>
            </a:r>
            <a:r>
              <a:rPr lang="en-US" dirty="0" err="1">
                <a:latin typeface="Roboto" panose="02000000000000000000" pitchFamily="2" charset="0"/>
                <a:ea typeface="Roboto" panose="02000000000000000000" pitchFamily="2" charset="0"/>
                <a:cs typeface="Roboto" panose="02000000000000000000" pitchFamily="2" charset="0"/>
              </a:rPr>
              <a:t>Pranaksh</a:t>
            </a:r>
            <a:r>
              <a:rPr lang="en-US" dirty="0">
                <a:latin typeface="Roboto" panose="02000000000000000000" pitchFamily="2" charset="0"/>
                <a:ea typeface="Roboto" panose="02000000000000000000" pitchFamily="2" charset="0"/>
                <a:cs typeface="Roboto" panose="02000000000000000000" pitchFamily="2" charset="0"/>
              </a:rPr>
              <a:t> Technologies as a leader in product innovation and digital transformation services, particularly within the IT sector. </a:t>
            </a:r>
          </a:p>
        </p:txBody>
      </p:sp>
    </p:spTree>
    <p:extLst>
      <p:ext uri="{BB962C8B-B14F-4D97-AF65-F5344CB8AC3E}">
        <p14:creationId xmlns:p14="http://schemas.microsoft.com/office/powerpoint/2010/main" val="330228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A065-2D43-604C-1BDB-D9A2FBB0BC70}"/>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Vision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05C964ED-D6C6-EADA-01A8-42813C5C152F}"/>
              </a:ext>
            </a:extLst>
          </p:cNvPr>
          <p:cNvSpPr>
            <a:spLocks noGrp="1"/>
          </p:cNvSpPr>
          <p:nvPr>
            <p:ph idx="1"/>
          </p:nvPr>
        </p:nvSpPr>
        <p:spPr/>
        <p:txBody>
          <a:bodyPr/>
          <a:lstStyle/>
          <a:p>
            <a:pPr algn="just">
              <a:lnSpc>
                <a:spcPct val="150000"/>
              </a:lnSpc>
            </a:pPr>
            <a:r>
              <a:rPr lang="en-US" b="0" i="0" dirty="0">
                <a:solidFill>
                  <a:srgbClr val="1D1E20"/>
                </a:solidFill>
                <a:effectLst/>
                <a:latin typeface="Roboto" panose="020F0502020204030204" pitchFamily="2" charset="0"/>
              </a:rPr>
              <a:t>To be a trusted leader in delivering top-level quality in technology, digital marketing, and academic training. We aim to bridge the gap between academia and the corporate world, fostering a future where our expertise drives excellence and innovation. By empowering individuals and organizations with cutting-edge skills and knowledge, we strive to set the standard for success in an ever-evolving landscape.</a:t>
            </a:r>
            <a:endParaRPr lang="en-IN" dirty="0"/>
          </a:p>
        </p:txBody>
      </p:sp>
    </p:spTree>
    <p:extLst>
      <p:ext uri="{BB962C8B-B14F-4D97-AF65-F5344CB8AC3E}">
        <p14:creationId xmlns:p14="http://schemas.microsoft.com/office/powerpoint/2010/main" val="850610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30E9-65AE-F4AD-5396-2FED3BEA307D}"/>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Mission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4AB04A32-23E6-CD1C-B034-3EE559C38F0C}"/>
              </a:ext>
            </a:extLst>
          </p:cNvPr>
          <p:cNvSpPr>
            <a:spLocks noGrp="1"/>
          </p:cNvSpPr>
          <p:nvPr>
            <p:ph idx="1"/>
          </p:nvPr>
        </p:nvSpPr>
        <p:spPr/>
        <p:txBody>
          <a:bodyPr/>
          <a:lstStyle/>
          <a:p>
            <a:pPr algn="just">
              <a:lnSpc>
                <a:spcPct val="150000"/>
              </a:lnSpc>
            </a:pPr>
            <a:r>
              <a:rPr lang="en-US" b="0" i="0" dirty="0">
                <a:solidFill>
                  <a:srgbClr val="1D1E20"/>
                </a:solidFill>
                <a:effectLst/>
                <a:latin typeface="Roboto" panose="02000000000000000000" pitchFamily="2" charset="0"/>
              </a:rPr>
              <a:t>Our mission is to provide exceptional services in technology, digital marketing, and academic training that connect academic learning with corporate success. We are dedicated to delivering top-quality solutions and training, enabling our clients to achieve their goals and stay competitive. Through our expertise, we aim to empower individuals with the skills needed for excellence and innovation in today’s dynamic world.</a:t>
            </a:r>
            <a:endParaRPr lang="en-US" b="0" i="0" dirty="0">
              <a:solidFill>
                <a:srgbClr val="1D1E20"/>
              </a:solidFill>
              <a:effectLst/>
              <a:latin typeface="Lato" panose="020F0502020204030204" pitchFamily="34" charset="0"/>
            </a:endParaRPr>
          </a:p>
          <a:p>
            <a:pPr>
              <a:buNone/>
            </a:pPr>
            <a:br>
              <a:rPr lang="en-US" b="0" i="0" dirty="0">
                <a:solidFill>
                  <a:srgbClr val="1D1E20"/>
                </a:solidFill>
                <a:effectLst/>
                <a:latin typeface="DM Sans" panose="020F0502020204030204" pitchFamily="2" charset="0"/>
              </a:rPr>
            </a:br>
            <a:endParaRPr lang="en-IN" dirty="0"/>
          </a:p>
        </p:txBody>
      </p:sp>
    </p:spTree>
    <p:extLst>
      <p:ext uri="{BB962C8B-B14F-4D97-AF65-F5344CB8AC3E}">
        <p14:creationId xmlns:p14="http://schemas.microsoft.com/office/powerpoint/2010/main" val="6262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02C3C-C05C-9145-28E0-9400749E3405}"/>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Organization Structure</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DECCC154-26CD-C329-3B4D-BE856134915D}"/>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5517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8D71F-0B1E-C84B-0B6F-72F3D44FBA84}"/>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Roles and Responsibilities</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EDC1612-EE00-1B1E-057A-82FF10C5B8E3}"/>
              </a:ext>
            </a:extLst>
          </p:cNvPr>
          <p:cNvSpPr>
            <a:spLocks noGrp="1"/>
          </p:cNvSpPr>
          <p:nvPr>
            <p:ph idx="1"/>
          </p:nvPr>
        </p:nvSpPr>
        <p:spPr/>
        <p:txBody>
          <a:bodyPr/>
          <a:lstStyle/>
          <a:p>
            <a:r>
              <a:rPr lang="en-IN" sz="1800" kern="100" dirty="0">
                <a:effectLst/>
                <a:latin typeface="Roboto" panose="02000000000000000000" pitchFamily="2" charset="0"/>
                <a:ea typeface="Roboto" panose="02000000000000000000" pitchFamily="2" charset="0"/>
                <a:cs typeface="Roboto" panose="02000000000000000000" pitchFamily="2" charset="0"/>
              </a:rPr>
              <a:t>Problem solving by collaborating with team</a:t>
            </a:r>
          </a:p>
          <a:p>
            <a:r>
              <a:rPr lang="en-IN" sz="1800" kern="100" dirty="0">
                <a:effectLst/>
                <a:latin typeface="Roboto" panose="02000000000000000000" pitchFamily="2" charset="0"/>
                <a:ea typeface="Roboto" panose="02000000000000000000" pitchFamily="2" charset="0"/>
                <a:cs typeface="Roboto" panose="02000000000000000000" pitchFamily="2" charset="0"/>
              </a:rPr>
              <a:t>Maintain documentation of assigned task</a:t>
            </a:r>
            <a:endParaRPr lang="en-IN" kern="100" dirty="0">
              <a:effectLst/>
              <a:latin typeface="Roboto" panose="02000000000000000000" pitchFamily="2" charset="0"/>
              <a:ea typeface="Roboto" panose="02000000000000000000" pitchFamily="2" charset="0"/>
              <a:cs typeface="Roboto" panose="02000000000000000000" pitchFamily="2" charset="0"/>
            </a:endParaRPr>
          </a:p>
          <a:p>
            <a:r>
              <a:rPr lang="en-US" dirty="0">
                <a:latin typeface="Roboto" panose="02000000000000000000" pitchFamily="2" charset="0"/>
                <a:ea typeface="Roboto" panose="02000000000000000000" pitchFamily="2" charset="0"/>
                <a:cs typeface="Roboto" panose="02000000000000000000" pitchFamily="2" charset="0"/>
              </a:rPr>
              <a:t>Provide Meaningful Work</a:t>
            </a:r>
          </a:p>
          <a:p>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Assign tasks that help interns learn and develop real-world skills</a:t>
            </a:r>
          </a:p>
          <a:p>
            <a:r>
              <a:rPr lang="en-US" dirty="0">
                <a:latin typeface="Roboto" panose="02000000000000000000" pitchFamily="2" charset="0"/>
                <a:ea typeface="Roboto" panose="02000000000000000000" pitchFamily="2" charset="0"/>
                <a:cs typeface="Roboto" panose="02000000000000000000" pitchFamily="2" charset="0"/>
              </a:rPr>
              <a:t>Ensure all work given follows ethical and legal standards</a:t>
            </a:r>
          </a:p>
          <a:p>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736228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5EA5B-42B5-BA35-4577-4858CEBC12EC}"/>
              </a:ext>
            </a:extLst>
          </p:cNvPr>
          <p:cNvSpPr>
            <a:spLocks noGrp="1"/>
          </p:cNvSpPr>
          <p:nvPr>
            <p:ph type="title"/>
          </p:nvPr>
        </p:nvSpPr>
        <p:spPr>
          <a:xfrm>
            <a:off x="2614289" y="2949678"/>
            <a:ext cx="8596668" cy="1320800"/>
          </a:xfrm>
        </p:spPr>
        <p:txBody>
          <a:bodyPr/>
          <a:lstStyle/>
          <a:p>
            <a:pPr algn="just"/>
            <a:r>
              <a:rPr lang="en-US" dirty="0"/>
              <a:t>ON JOB TRAINING (OJT-1)</a:t>
            </a:r>
            <a:endParaRPr lang="en-IN" dirty="0"/>
          </a:p>
        </p:txBody>
      </p:sp>
    </p:spTree>
    <p:extLst>
      <p:ext uri="{BB962C8B-B14F-4D97-AF65-F5344CB8AC3E}">
        <p14:creationId xmlns:p14="http://schemas.microsoft.com/office/powerpoint/2010/main" val="3137445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0F314-3393-17B8-D402-F3C1C0DA9B79}"/>
              </a:ext>
            </a:extLst>
          </p:cNvPr>
          <p:cNvSpPr>
            <a:spLocks noGrp="1"/>
          </p:cNvSpPr>
          <p:nvPr>
            <p:ph type="title"/>
          </p:nvPr>
        </p:nvSpPr>
        <p:spPr/>
        <p:txBody>
          <a:bodyPr/>
          <a:lstStyle/>
          <a:p>
            <a:r>
              <a:rPr lang="en-US" dirty="0"/>
              <a:t>Online Blood Bank Management</a:t>
            </a:r>
            <a:endParaRPr lang="en-IN" dirty="0"/>
          </a:p>
        </p:txBody>
      </p:sp>
      <p:sp>
        <p:nvSpPr>
          <p:cNvPr id="3" name="Content Placeholder 2">
            <a:extLst>
              <a:ext uri="{FF2B5EF4-FFF2-40B4-BE49-F238E27FC236}">
                <a16:creationId xmlns:a16="http://schemas.microsoft.com/office/drawing/2014/main" id="{BE00F0BE-BA9B-0DF8-BA15-C20F82187EFD}"/>
              </a:ext>
            </a:extLst>
          </p:cNvPr>
          <p:cNvSpPr>
            <a:spLocks noGrp="1"/>
          </p:cNvSpPr>
          <p:nvPr>
            <p:ph idx="1"/>
          </p:nvPr>
        </p:nvSpPr>
        <p:spPr/>
        <p:txBody>
          <a:bodyPr/>
          <a:lstStyle/>
          <a:p>
            <a:pPr>
              <a:lnSpc>
                <a:spcPct val="150000"/>
              </a:lnSpc>
            </a:pPr>
            <a:r>
              <a:rPr lang="en-US" dirty="0"/>
              <a:t>The Blood Bank Management System is a web-based application designed to streamline the blood donation process. It provides a centralized platform for donors and recipients to manage and coordinate blood availability efficiently.</a:t>
            </a:r>
          </a:p>
          <a:p>
            <a:pPr>
              <a:lnSpc>
                <a:spcPct val="150000"/>
              </a:lnSpc>
            </a:pPr>
            <a:r>
              <a:rPr lang="en-US" dirty="0"/>
              <a:t>The platform is built using modern web technologies like HTML, CSS, JavaScript, PHP, and Bootstrap. It combines a simple, user-friendly design with essential features to create a reliable and accessible system for blood donation and emergency blood search.</a:t>
            </a:r>
          </a:p>
          <a:p>
            <a:endParaRPr lang="en-IN" dirty="0"/>
          </a:p>
        </p:txBody>
      </p:sp>
    </p:spTree>
    <p:extLst>
      <p:ext uri="{BB962C8B-B14F-4D97-AF65-F5344CB8AC3E}">
        <p14:creationId xmlns:p14="http://schemas.microsoft.com/office/powerpoint/2010/main" val="3110632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735F-CFCD-34BE-CFBB-DD01933F8619}"/>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C4B92EF3-0287-131C-E393-D3BE1A43FC81}"/>
              </a:ext>
            </a:extLst>
          </p:cNvPr>
          <p:cNvSpPr>
            <a:spLocks noGrp="1"/>
          </p:cNvSpPr>
          <p:nvPr>
            <p:ph idx="1"/>
          </p:nvPr>
        </p:nvSpPr>
        <p:spPr/>
        <p:txBody>
          <a:bodyPr/>
          <a:lstStyle/>
          <a:p>
            <a:pPr>
              <a:lnSpc>
                <a:spcPct val="150000"/>
              </a:lnSpc>
              <a:buFont typeface="+mj-lt"/>
              <a:buAutoNum type="arabicPeriod"/>
            </a:pPr>
            <a:r>
              <a:rPr lang="en-US" b="1" dirty="0"/>
              <a:t>Inefficient Traditional Process: </a:t>
            </a:r>
            <a:r>
              <a:rPr lang="en-US" dirty="0"/>
              <a:t>The existing manual method of maintaining donor records and finding blood donors causes delays, especially during emergencies.</a:t>
            </a:r>
          </a:p>
          <a:p>
            <a:pPr>
              <a:lnSpc>
                <a:spcPct val="150000"/>
              </a:lnSpc>
              <a:buFont typeface="+mj-lt"/>
              <a:buAutoNum type="arabicPeriod"/>
            </a:pPr>
            <a:r>
              <a:rPr lang="en-US" b="1" dirty="0"/>
              <a:t>Lack of Centralized Database: </a:t>
            </a:r>
            <a:r>
              <a:rPr lang="en-US" dirty="0"/>
              <a:t>There is no centralized platform where users can easily search for available donors based on blood group and location.</a:t>
            </a:r>
          </a:p>
          <a:p>
            <a:pPr>
              <a:lnSpc>
                <a:spcPct val="150000"/>
              </a:lnSpc>
              <a:buFont typeface="+mj-lt"/>
              <a:buAutoNum type="arabicPeriod"/>
            </a:pPr>
            <a:r>
              <a:rPr lang="en-US" b="1" dirty="0"/>
              <a:t>Risk of Manual Errors: </a:t>
            </a:r>
            <a:r>
              <a:rPr lang="en-US" dirty="0"/>
              <a:t>Manual record-keeping often leads to data loss, incorrect information, and outdated donor lists.</a:t>
            </a:r>
          </a:p>
          <a:p>
            <a:endParaRPr lang="en-IN" dirty="0"/>
          </a:p>
        </p:txBody>
      </p:sp>
    </p:spTree>
    <p:extLst>
      <p:ext uri="{BB962C8B-B14F-4D97-AF65-F5344CB8AC3E}">
        <p14:creationId xmlns:p14="http://schemas.microsoft.com/office/powerpoint/2010/main" val="3491283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9F850-7981-3C8C-87D2-F8B188C64193}"/>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Future Scope</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13" name="Rectangle 8">
            <a:extLst>
              <a:ext uri="{FF2B5EF4-FFF2-40B4-BE49-F238E27FC236}">
                <a16:creationId xmlns:a16="http://schemas.microsoft.com/office/drawing/2014/main" id="{CF9FCFA0-E1CE-337E-04C7-E85A6E837241}"/>
              </a:ext>
            </a:extLst>
          </p:cNvPr>
          <p:cNvSpPr>
            <a:spLocks noGrp="1" noChangeArrowheads="1"/>
          </p:cNvSpPr>
          <p:nvPr>
            <p:ph idx="1"/>
          </p:nvPr>
        </p:nvSpPr>
        <p:spPr bwMode="auto">
          <a:xfrm>
            <a:off x="1064581" y="1721625"/>
            <a:ext cx="4695516"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Integration with Hospital Databases</a:t>
            </a:r>
          </a:p>
          <a:p>
            <a:pPr marR="0" lvl="0" algn="just" defTabSz="914400" rtl="0" eaLnBrk="0" fontAlgn="base" latinLnBrk="0" hangingPunct="0">
              <a:lnSpc>
                <a:spcPct val="150000"/>
              </a:lnSpc>
              <a:spcBef>
                <a:spcPct val="0"/>
              </a:spcBef>
              <a:spcAft>
                <a:spcPct val="0"/>
              </a:spcAft>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Real-Time Blood Availability Tracking</a:t>
            </a:r>
          </a:p>
          <a:p>
            <a:pPr marR="0" lvl="0" algn="just" defTabSz="914400" rtl="0" eaLnBrk="0" fontAlgn="base" latinLnBrk="0" hangingPunct="0">
              <a:lnSpc>
                <a:spcPct val="150000"/>
              </a:lnSpc>
              <a:spcBef>
                <a:spcPct val="0"/>
              </a:spcBef>
              <a:spcAft>
                <a:spcPct val="0"/>
              </a:spcAft>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Mobile Application for Easy Access</a:t>
            </a:r>
          </a:p>
          <a:p>
            <a:pPr marR="0" lvl="0" algn="just" defTabSz="914400" rtl="0" eaLnBrk="0" fontAlgn="base" latinLnBrk="0" hangingPunct="0">
              <a:lnSpc>
                <a:spcPct val="150000"/>
              </a:lnSpc>
              <a:spcBef>
                <a:spcPct val="0"/>
              </a:spcBef>
              <a:spcAft>
                <a:spcPct val="0"/>
              </a:spcAft>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Automated Donor Eligibility Notifications</a:t>
            </a:r>
          </a:p>
          <a:p>
            <a:pPr marR="0" lvl="0" algn="just" defTabSz="914400" rtl="0" eaLnBrk="0" fontAlgn="base" latinLnBrk="0" hangingPunct="0">
              <a:lnSpc>
                <a:spcPct val="150000"/>
              </a:lnSpc>
              <a:spcBef>
                <a:spcPct val="0"/>
              </a:spcBef>
              <a:spcAft>
                <a:spcPct val="0"/>
              </a:spcAft>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Location-Based Donor Alerts</a:t>
            </a:r>
          </a:p>
        </p:txBody>
      </p:sp>
    </p:spTree>
    <p:extLst>
      <p:ext uri="{BB962C8B-B14F-4D97-AF65-F5344CB8AC3E}">
        <p14:creationId xmlns:p14="http://schemas.microsoft.com/office/powerpoint/2010/main" val="3769787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6447D-9688-8AA4-FEF4-4883784DB9DB}"/>
              </a:ext>
            </a:extLst>
          </p:cNvPr>
          <p:cNvSpPr>
            <a:spLocks noGrp="1"/>
          </p:cNvSpPr>
          <p:nvPr>
            <p:ph type="title"/>
          </p:nvPr>
        </p:nvSpPr>
        <p:spPr>
          <a:xfrm>
            <a:off x="3428184" y="2566219"/>
            <a:ext cx="8596668" cy="1320800"/>
          </a:xfrm>
        </p:spPr>
        <p:txBody>
          <a:bodyPr/>
          <a:lstStyle/>
          <a:p>
            <a:pPr algn="just"/>
            <a:r>
              <a:rPr lang="en-US" dirty="0"/>
              <a:t>USE CASE-1</a:t>
            </a:r>
            <a:endParaRPr lang="en-IN" dirty="0"/>
          </a:p>
        </p:txBody>
      </p:sp>
    </p:spTree>
    <p:extLst>
      <p:ext uri="{BB962C8B-B14F-4D97-AF65-F5344CB8AC3E}">
        <p14:creationId xmlns:p14="http://schemas.microsoft.com/office/powerpoint/2010/main" val="4291500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89FE-D69A-B8D4-60D3-C43A12770420}"/>
              </a:ext>
            </a:extLst>
          </p:cNvPr>
          <p:cNvSpPr>
            <a:spLocks noGrp="1"/>
          </p:cNvSpPr>
          <p:nvPr>
            <p:ph type="title"/>
          </p:nvPr>
        </p:nvSpPr>
        <p:spPr/>
        <p:txBody>
          <a:bodyPr/>
          <a:lstStyle/>
          <a:p>
            <a:r>
              <a:rPr lang="en-IN" sz="1800" b="1" dirty="0">
                <a:effectLst/>
                <a:latin typeface="Roboto" panose="02000000000000000000" pitchFamily="2" charset="0"/>
                <a:ea typeface="Roboto" panose="02000000000000000000" pitchFamily="2" charset="0"/>
                <a:cs typeface="Roboto" panose="02000000000000000000" pitchFamily="2" charset="0"/>
              </a:rPr>
              <a:t>User Login                                                                  </a:t>
            </a:r>
            <a:br>
              <a:rPr lang="en-IN" sz="1800" dirty="0">
                <a:effectLst/>
                <a:latin typeface="Roboto" panose="02000000000000000000" pitchFamily="2" charset="0"/>
                <a:ea typeface="Roboto" panose="02000000000000000000" pitchFamily="2" charset="0"/>
                <a:cs typeface="Roboto" panose="02000000000000000000" pitchFamily="2" charset="0"/>
              </a:rPr>
            </a:br>
            <a:r>
              <a:rPr lang="en-IN" sz="1800" b="1" dirty="0">
                <a:effectLst/>
                <a:latin typeface="Roboto" panose="02000000000000000000" pitchFamily="2" charset="0"/>
                <a:ea typeface="Roboto" panose="02000000000000000000" pitchFamily="2" charset="0"/>
                <a:cs typeface="Roboto" panose="02000000000000000000" pitchFamily="2" charset="0"/>
              </a:rPr>
              <a:t>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0DDD4DD3-73BE-C542-B1A7-C3AE8FA328D8}"/>
              </a:ext>
            </a:extLst>
          </p:cNvPr>
          <p:cNvSpPr>
            <a:spLocks noGrp="1"/>
          </p:cNvSpPr>
          <p:nvPr>
            <p:ph idx="1"/>
          </p:nvPr>
        </p:nvSpPr>
        <p:spPr>
          <a:xfrm>
            <a:off x="677334" y="1727970"/>
            <a:ext cx="8596668" cy="3880773"/>
          </a:xfrm>
        </p:spPr>
        <p:txBody>
          <a:bodyPr/>
          <a:lstStyle/>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navigates to the homepage.</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"Login" button.</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system redirects the user to the login page.</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enters their email and password.</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"Submit" button.</a:t>
            </a:r>
          </a:p>
          <a:p>
            <a:endParaRPr lang="en-IN" dirty="0"/>
          </a:p>
        </p:txBody>
      </p:sp>
      <p:sp>
        <p:nvSpPr>
          <p:cNvPr id="4" name="TextBox 3">
            <a:extLst>
              <a:ext uri="{FF2B5EF4-FFF2-40B4-BE49-F238E27FC236}">
                <a16:creationId xmlns:a16="http://schemas.microsoft.com/office/drawing/2014/main" id="{04489D1D-BACD-ADB6-0492-E46BB6EA2D11}"/>
              </a:ext>
            </a:extLst>
          </p:cNvPr>
          <p:cNvSpPr txBox="1"/>
          <p:nvPr/>
        </p:nvSpPr>
        <p:spPr>
          <a:xfrm>
            <a:off x="6685936" y="614787"/>
            <a:ext cx="2935419" cy="369332"/>
          </a:xfrm>
          <a:prstGeom prst="rect">
            <a:avLst/>
          </a:prstGeom>
          <a:noFill/>
        </p:spPr>
        <p:txBody>
          <a:bodyPr wrap="none" rtlCol="0">
            <a:spAutoFit/>
          </a:bodyPr>
          <a:lstStyle/>
          <a:p>
            <a:r>
              <a:rPr lang="en-IN" b="1" dirty="0">
                <a:solidFill>
                  <a:schemeClr val="accent1"/>
                </a:solidFill>
                <a:latin typeface="Roboto" panose="02000000000000000000" pitchFamily="2" charset="0"/>
                <a:ea typeface="Roboto" panose="02000000000000000000" pitchFamily="2" charset="0"/>
                <a:cs typeface="Roboto" panose="02000000000000000000" pitchFamily="2" charset="0"/>
              </a:rPr>
              <a:t>User Registration (Sign Up</a:t>
            </a:r>
          </a:p>
        </p:txBody>
      </p:sp>
      <p:sp>
        <p:nvSpPr>
          <p:cNvPr id="5" name="TextBox 4">
            <a:extLst>
              <a:ext uri="{FF2B5EF4-FFF2-40B4-BE49-F238E27FC236}">
                <a16:creationId xmlns:a16="http://schemas.microsoft.com/office/drawing/2014/main" id="{9773EBA7-62D3-50C1-E5B9-BBD808ECC19A}"/>
              </a:ext>
            </a:extLst>
          </p:cNvPr>
          <p:cNvSpPr txBox="1"/>
          <p:nvPr/>
        </p:nvSpPr>
        <p:spPr>
          <a:xfrm>
            <a:off x="5917447" y="1648897"/>
            <a:ext cx="5878532" cy="3560205"/>
          </a:xfrm>
          <a:prstGeom prst="rect">
            <a:avLst/>
          </a:prstGeom>
          <a:noFill/>
        </p:spPr>
        <p:txBody>
          <a:bodyPr wrap="none" rtlCol="0">
            <a:spAutoFit/>
          </a:bodyPr>
          <a:lstStyle/>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navigates to the homepage.</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on the "Sign Up" button.</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system displays the sign-up form with fields for </a:t>
            </a:r>
          </a:p>
          <a:p>
            <a:pPr lvl="0">
              <a:lnSpc>
                <a:spcPct val="192000"/>
              </a:lnSpc>
              <a:buClr>
                <a:schemeClr val="accent1"/>
              </a:buClr>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          Name, Email, Password, Blood Group, and State.</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enters valid details in all fields.</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"Submit" button.</a:t>
            </a:r>
          </a:p>
          <a:p>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167951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5F7A1-EE53-3226-61BE-1354538EC77E}"/>
              </a:ext>
            </a:extLst>
          </p:cNvPr>
          <p:cNvSpPr>
            <a:spLocks noGrp="1"/>
          </p:cNvSpPr>
          <p:nvPr>
            <p:ph type="title"/>
          </p:nvPr>
        </p:nvSpPr>
        <p:spPr>
          <a:xfrm>
            <a:off x="677334" y="609600"/>
            <a:ext cx="3304731" cy="1320800"/>
          </a:xfrm>
        </p:spPr>
        <p:txBody>
          <a:bodyPr/>
          <a:lstStyle/>
          <a:p>
            <a:r>
              <a:rPr lang="en-IN" sz="1800" b="1" dirty="0">
                <a:effectLst/>
                <a:latin typeface="Roboto" panose="02000000000000000000" pitchFamily="2" charset="0"/>
                <a:ea typeface="Roboto" panose="02000000000000000000" pitchFamily="2" charset="0"/>
                <a:cs typeface="Roboto" panose="02000000000000000000" pitchFamily="2" charset="0"/>
              </a:rPr>
              <a:t>Search for Donors</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67FB9721-B128-A25A-16F9-914E18252B7D}"/>
              </a:ext>
            </a:extLst>
          </p:cNvPr>
          <p:cNvSpPr>
            <a:spLocks noGrp="1"/>
          </p:cNvSpPr>
          <p:nvPr>
            <p:ph idx="1"/>
          </p:nvPr>
        </p:nvSpPr>
        <p:spPr>
          <a:xfrm>
            <a:off x="559347" y="1383840"/>
            <a:ext cx="5880782" cy="3880773"/>
          </a:xfrm>
        </p:spPr>
        <p:txBody>
          <a:bodyPr/>
          <a:lstStyle/>
          <a:p>
            <a:pPr>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on the "Search Donors" option.</a:t>
            </a:r>
          </a:p>
          <a:p>
            <a:pPr>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system displays a search form with filters for Blood Group and State.</a:t>
            </a:r>
          </a:p>
          <a:p>
            <a:pPr>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selects the required Blood Group and State.</a:t>
            </a:r>
          </a:p>
          <a:p>
            <a:pPr lvl="0">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"Search" button.</a:t>
            </a:r>
          </a:p>
          <a:p>
            <a:endParaRPr lang="en-IN" dirty="0"/>
          </a:p>
        </p:txBody>
      </p:sp>
      <p:sp>
        <p:nvSpPr>
          <p:cNvPr id="4" name="TextBox 3">
            <a:extLst>
              <a:ext uri="{FF2B5EF4-FFF2-40B4-BE49-F238E27FC236}">
                <a16:creationId xmlns:a16="http://schemas.microsoft.com/office/drawing/2014/main" id="{CAE46894-279B-A9FE-2D17-864F903FE542}"/>
              </a:ext>
            </a:extLst>
          </p:cNvPr>
          <p:cNvSpPr txBox="1"/>
          <p:nvPr/>
        </p:nvSpPr>
        <p:spPr>
          <a:xfrm>
            <a:off x="7629832" y="609600"/>
            <a:ext cx="1800558" cy="369332"/>
          </a:xfrm>
          <a:prstGeom prst="rect">
            <a:avLst/>
          </a:prstGeom>
          <a:noFill/>
        </p:spPr>
        <p:txBody>
          <a:bodyPr wrap="none" rtlCol="0">
            <a:spAutoFit/>
          </a:bodyPr>
          <a:lstStyle/>
          <a:p>
            <a:r>
              <a:rPr lang="en-IN" sz="1800" b="1" dirty="0">
                <a:solidFill>
                  <a:schemeClr val="accent1"/>
                </a:solidFill>
                <a:effectLst/>
                <a:latin typeface="Roboto" panose="02000000000000000000" pitchFamily="2" charset="0"/>
                <a:ea typeface="Roboto" panose="02000000000000000000" pitchFamily="2" charset="0"/>
                <a:cs typeface="Roboto" panose="02000000000000000000" pitchFamily="2" charset="0"/>
              </a:rPr>
              <a:t>View Donor List</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E7702C23-52EF-79DE-2ABA-122E9F3F9029}"/>
              </a:ext>
            </a:extLst>
          </p:cNvPr>
          <p:cNvSpPr txBox="1"/>
          <p:nvPr/>
        </p:nvSpPr>
        <p:spPr>
          <a:xfrm>
            <a:off x="6646607" y="1383840"/>
            <a:ext cx="5404043" cy="1432956"/>
          </a:xfrm>
          <a:prstGeom prst="rect">
            <a:avLst/>
          </a:prstGeom>
          <a:noFill/>
        </p:spPr>
        <p:txBody>
          <a:bodyPr wrap="none" rtlCol="0">
            <a:spAutoFit/>
          </a:bodyPr>
          <a:lstStyle/>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navigates to the "View Donors" button.</a:t>
            </a:r>
          </a:p>
          <a:p>
            <a:pPr marL="342900" lvl="0" indent="-342900">
              <a:lnSpc>
                <a:spcPct val="192000"/>
              </a:lnSpc>
              <a:buClr>
                <a:schemeClr val="accent1"/>
              </a:buClr>
              <a:buFont typeface="Courier New" panose="02070309020205020404" pitchFamily="49" charset="0"/>
              <a:buChar char="o"/>
              <a:tabLst>
                <a:tab pos="457200" algn="l"/>
              </a:tabLst>
            </a:pPr>
            <a:r>
              <a:rPr lang="en-IN" dirty="0">
                <a:latin typeface="Roboto" panose="02000000000000000000" pitchFamily="2" charset="0"/>
                <a:ea typeface="Roboto" panose="02000000000000000000" pitchFamily="2" charset="0"/>
                <a:cs typeface="Roboto" panose="02000000000000000000" pitchFamily="2" charset="0"/>
              </a:rPr>
              <a:t>Available Donors will Display</a:t>
            </a:r>
            <a:r>
              <a:rPr lang="en-IN" sz="1800" dirty="0">
                <a:effectLst/>
                <a:latin typeface="Roboto" panose="02000000000000000000" pitchFamily="2" charset="0"/>
                <a:ea typeface="Roboto" panose="02000000000000000000" pitchFamily="2" charset="0"/>
                <a:cs typeface="Roboto" panose="02000000000000000000" pitchFamily="2" charset="0"/>
              </a:rPr>
              <a:t>.</a:t>
            </a:r>
          </a:p>
          <a:p>
            <a:pPr>
              <a:buClr>
                <a:schemeClr val="accent1"/>
              </a:buClr>
            </a:pP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538800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5B1E6CA-A241-912A-42AB-6608E5965A2F}"/>
              </a:ext>
            </a:extLst>
          </p:cNvPr>
          <p:cNvSpPr>
            <a:spLocks noGrp="1"/>
          </p:cNvSpPr>
          <p:nvPr>
            <p:ph type="title"/>
          </p:nvPr>
        </p:nvSpPr>
        <p:spPr>
          <a:xfrm>
            <a:off x="2614289" y="2949678"/>
            <a:ext cx="8596668" cy="1320800"/>
          </a:xfrm>
        </p:spPr>
        <p:txBody>
          <a:bodyPr/>
          <a:lstStyle/>
          <a:p>
            <a:pPr algn="just"/>
            <a:r>
              <a:rPr lang="en-US" dirty="0">
                <a:latin typeface="Roboto" panose="02000000000000000000" pitchFamily="2" charset="0"/>
                <a:ea typeface="Roboto" panose="02000000000000000000" pitchFamily="2" charset="0"/>
                <a:cs typeface="Roboto" panose="02000000000000000000" pitchFamily="2" charset="0"/>
              </a:rPr>
              <a:t>ON JOB TRAINING (OJT-2)</a:t>
            </a: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450148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EE30-F632-D07E-2A31-4F991314FF6E}"/>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JOB PORTAL</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A2E13115-83D2-FE58-8E0C-C9C169073832}"/>
              </a:ext>
            </a:extLst>
          </p:cNvPr>
          <p:cNvSpPr>
            <a:spLocks noGrp="1"/>
          </p:cNvSpPr>
          <p:nvPr>
            <p:ph idx="1"/>
          </p:nvPr>
        </p:nvSpPr>
        <p:spPr/>
        <p:txBody>
          <a:bodyPr>
            <a:normAutofit lnSpcReduction="10000"/>
          </a:bodyPr>
          <a:lstStyle/>
          <a:p>
            <a:pPr algn="just">
              <a:lnSpc>
                <a:spcPct val="150000"/>
              </a:lnSpc>
            </a:pPr>
            <a:r>
              <a:rPr lang="en-US" dirty="0">
                <a:latin typeface="Roboto" panose="02000000000000000000" pitchFamily="2" charset="0"/>
                <a:ea typeface="Roboto" panose="02000000000000000000" pitchFamily="2" charset="0"/>
                <a:cs typeface="Roboto" panose="02000000000000000000" pitchFamily="2" charset="0"/>
              </a:rPr>
              <a:t>The Job Portal System is a web-based application designed to connect job seekers (candidates) and employers (recruiters) on a centralized platform. It simplifies the process of job searching, application, recruitment, and candidate management through a user-friendly interface and efficient workflows.</a:t>
            </a:r>
          </a:p>
          <a:p>
            <a:pPr algn="just">
              <a:lnSpc>
                <a:spcPct val="150000"/>
              </a:lnSpc>
            </a:pPr>
            <a:r>
              <a:rPr lang="en-US" dirty="0">
                <a:latin typeface="Roboto" panose="02000000000000000000" pitchFamily="2" charset="0"/>
                <a:ea typeface="Roboto" panose="02000000000000000000" pitchFamily="2" charset="0"/>
                <a:cs typeface="Roboto" panose="02000000000000000000" pitchFamily="2" charset="0"/>
              </a:rPr>
              <a:t>The platform is developed using modern web technologies such as HTML, CSS, JavaScript, React, and </a:t>
            </a:r>
            <a:r>
              <a:rPr lang="en-US" dirty="0" err="1">
                <a:latin typeface="Roboto" panose="02000000000000000000" pitchFamily="2" charset="0"/>
                <a:ea typeface="Roboto" panose="02000000000000000000" pitchFamily="2" charset="0"/>
                <a:cs typeface="Roboto" panose="02000000000000000000" pitchFamily="2" charset="0"/>
              </a:rPr>
              <a:t>Supabase</a:t>
            </a:r>
            <a:r>
              <a:rPr lang="en-US" dirty="0">
                <a:latin typeface="Roboto" panose="02000000000000000000" pitchFamily="2" charset="0"/>
                <a:ea typeface="Roboto" panose="02000000000000000000" pitchFamily="2" charset="0"/>
                <a:cs typeface="Roboto" panose="02000000000000000000" pitchFamily="2" charset="0"/>
              </a:rPr>
              <a:t> as the backend database. It offers features like job posting, candidate applications, resume upload, job filtering, and real-time updates, making it a reliable and effective tool for both job seekers and employers.</a:t>
            </a:r>
          </a:p>
          <a:p>
            <a:endParaRPr lang="en-IN" dirty="0"/>
          </a:p>
        </p:txBody>
      </p:sp>
    </p:spTree>
    <p:extLst>
      <p:ext uri="{BB962C8B-B14F-4D97-AF65-F5344CB8AC3E}">
        <p14:creationId xmlns:p14="http://schemas.microsoft.com/office/powerpoint/2010/main" val="1888240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4059-91A6-AC05-86BC-A1219BA3E5D7}"/>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Problem Statement</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4565EA50-E291-457C-0F92-0A66BAB80390}"/>
              </a:ext>
            </a:extLst>
          </p:cNvPr>
          <p:cNvSpPr>
            <a:spLocks noGrp="1"/>
          </p:cNvSpPr>
          <p:nvPr>
            <p:ph idx="1"/>
          </p:nvPr>
        </p:nvSpPr>
        <p:spPr>
          <a:xfrm>
            <a:off x="695907" y="2160589"/>
            <a:ext cx="8596668" cy="3880773"/>
          </a:xfrm>
        </p:spPr>
        <p:txBody>
          <a:bodyPr/>
          <a:lstStyle/>
          <a:p>
            <a:pPr>
              <a:buNone/>
            </a:pPr>
            <a:r>
              <a:rPr lang="en-US" b="1" dirty="0">
                <a:latin typeface="Roboto" panose="02000000000000000000" pitchFamily="2" charset="0"/>
                <a:ea typeface="Roboto" panose="02000000000000000000" pitchFamily="2" charset="0"/>
                <a:cs typeface="Roboto" panose="02000000000000000000" pitchFamily="2" charset="0"/>
              </a:rPr>
              <a:t>Candidate-Side Challenges:</a:t>
            </a:r>
            <a:endParaRPr lang="en-US" dirty="0">
              <a:latin typeface="Roboto" panose="02000000000000000000" pitchFamily="2" charset="0"/>
              <a:ea typeface="Roboto" panose="02000000000000000000" pitchFamily="2" charset="0"/>
              <a:cs typeface="Roboto" panose="02000000000000000000" pitchFamily="2" charset="0"/>
            </a:endParaRPr>
          </a:p>
          <a:p>
            <a:pPr>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Difficulty in finding relevant job listings quickly</a:t>
            </a:r>
          </a:p>
          <a:p>
            <a:pPr>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Inability to filter jobs based on company, location, or personal qualifications</a:t>
            </a:r>
          </a:p>
          <a:p>
            <a:pPr>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Lack of an organized system to manage applications and resume submissions</a:t>
            </a:r>
          </a:p>
          <a:p>
            <a:pPr>
              <a:buNone/>
            </a:pPr>
            <a:r>
              <a:rPr lang="en-US" b="1" dirty="0">
                <a:latin typeface="Roboto" panose="02000000000000000000" pitchFamily="2" charset="0"/>
                <a:ea typeface="Roboto" panose="02000000000000000000" pitchFamily="2" charset="0"/>
                <a:cs typeface="Roboto" panose="02000000000000000000" pitchFamily="2" charset="0"/>
              </a:rPr>
              <a:t>Recruiter-Side Challenges:</a:t>
            </a:r>
            <a:endParaRPr lang="en-US" dirty="0">
              <a:latin typeface="Roboto" panose="02000000000000000000" pitchFamily="2" charset="0"/>
              <a:ea typeface="Roboto" panose="02000000000000000000" pitchFamily="2" charset="0"/>
              <a:cs typeface="Roboto" panose="02000000000000000000" pitchFamily="2" charset="0"/>
            </a:endParaRPr>
          </a:p>
          <a:p>
            <a:pPr>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Time-consuming job posting and applicant tracking process</a:t>
            </a:r>
          </a:p>
          <a:p>
            <a:pPr>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No centralized system to view, manage, and shortlist candidates</a:t>
            </a:r>
          </a:p>
          <a:p>
            <a:pPr>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Difficulty in retrieving candidate information and resumes efficiently</a:t>
            </a:r>
          </a:p>
          <a:p>
            <a:endParaRPr lang="en-IN" dirty="0"/>
          </a:p>
        </p:txBody>
      </p:sp>
    </p:spTree>
    <p:extLst>
      <p:ext uri="{BB962C8B-B14F-4D97-AF65-F5344CB8AC3E}">
        <p14:creationId xmlns:p14="http://schemas.microsoft.com/office/powerpoint/2010/main" val="447169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3BE5A-3660-6055-3006-7AFFDCE832A6}"/>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Future Scope</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0FD6A08-DDA8-65D1-66FE-E55041C10869}"/>
              </a:ext>
            </a:extLst>
          </p:cNvPr>
          <p:cNvSpPr>
            <a:spLocks noGrp="1"/>
          </p:cNvSpPr>
          <p:nvPr>
            <p:ph idx="1"/>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Collaboration with Third-Party </a:t>
            </a:r>
          </a:p>
          <a:p>
            <a:r>
              <a:rPr lang="en-US" dirty="0">
                <a:latin typeface="Roboto" panose="02000000000000000000" pitchFamily="2" charset="0"/>
                <a:ea typeface="Roboto" panose="02000000000000000000" pitchFamily="2" charset="0"/>
                <a:cs typeface="Roboto" panose="02000000000000000000" pitchFamily="2" charset="0"/>
              </a:rPr>
              <a:t>Job Platforms Skill Development and Learning Resources </a:t>
            </a:r>
          </a:p>
          <a:p>
            <a:r>
              <a:rPr lang="en-US" dirty="0">
                <a:latin typeface="Roboto" panose="02000000000000000000" pitchFamily="2" charset="0"/>
                <a:ea typeface="Roboto" panose="02000000000000000000" pitchFamily="2" charset="0"/>
                <a:cs typeface="Roboto" panose="02000000000000000000" pitchFamily="2" charset="0"/>
              </a:rPr>
              <a:t>Interview Scheduling System I</a:t>
            </a:r>
          </a:p>
          <a:p>
            <a:r>
              <a:rPr lang="en-US" dirty="0" err="1">
                <a:latin typeface="Roboto" panose="02000000000000000000" pitchFamily="2" charset="0"/>
                <a:ea typeface="Roboto" panose="02000000000000000000" pitchFamily="2" charset="0"/>
                <a:cs typeface="Roboto" panose="02000000000000000000" pitchFamily="2" charset="0"/>
              </a:rPr>
              <a:t>ntegration</a:t>
            </a:r>
            <a:r>
              <a:rPr lang="en-US" dirty="0">
                <a:latin typeface="Roboto" panose="02000000000000000000" pitchFamily="2" charset="0"/>
                <a:ea typeface="Roboto" panose="02000000000000000000" pitchFamily="2" charset="0"/>
                <a:cs typeface="Roboto" panose="02000000000000000000" pitchFamily="2" charset="0"/>
              </a:rPr>
              <a:t> with Social Media for Profile Sharing</a:t>
            </a: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773530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19F848-1C06-E65A-6E9B-7ABE96387C16}"/>
              </a:ext>
            </a:extLst>
          </p:cNvPr>
          <p:cNvSpPr>
            <a:spLocks noGrp="1"/>
          </p:cNvSpPr>
          <p:nvPr>
            <p:ph type="title"/>
          </p:nvPr>
        </p:nvSpPr>
        <p:spPr>
          <a:xfrm>
            <a:off x="3428184" y="2566219"/>
            <a:ext cx="8596668" cy="1320800"/>
          </a:xfrm>
        </p:spPr>
        <p:txBody>
          <a:bodyPr/>
          <a:lstStyle/>
          <a:p>
            <a:pPr algn="just"/>
            <a:r>
              <a:rPr lang="en-US" dirty="0"/>
              <a:t>USE CASE-2</a:t>
            </a:r>
            <a:endParaRPr lang="en-IN" dirty="0"/>
          </a:p>
        </p:txBody>
      </p:sp>
    </p:spTree>
    <p:extLst>
      <p:ext uri="{BB962C8B-B14F-4D97-AF65-F5344CB8AC3E}">
        <p14:creationId xmlns:p14="http://schemas.microsoft.com/office/powerpoint/2010/main" val="1951511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64D6-7B85-99FF-D396-0D9234ADE0A8}"/>
              </a:ext>
            </a:extLst>
          </p:cNvPr>
          <p:cNvSpPr>
            <a:spLocks noGrp="1"/>
          </p:cNvSpPr>
          <p:nvPr>
            <p:ph type="title"/>
          </p:nvPr>
        </p:nvSpPr>
        <p:spPr>
          <a:xfrm>
            <a:off x="677333" y="609600"/>
            <a:ext cx="5752964" cy="1320800"/>
          </a:xfrm>
        </p:spPr>
        <p:txBody>
          <a:bodyPr>
            <a:normAutofit/>
          </a:bodyPr>
          <a:lstStyle/>
          <a:p>
            <a:r>
              <a:rPr lang="en-IN" sz="1800" dirty="0">
                <a:latin typeface="Roboto" panose="02000000000000000000" pitchFamily="2" charset="0"/>
                <a:ea typeface="Roboto" panose="02000000000000000000" pitchFamily="2" charset="0"/>
                <a:cs typeface="Roboto" panose="02000000000000000000" pitchFamily="2" charset="0"/>
              </a:rPr>
              <a:t>Candidate Sign Up / Login</a:t>
            </a:r>
          </a:p>
        </p:txBody>
      </p:sp>
      <p:sp>
        <p:nvSpPr>
          <p:cNvPr id="3" name="Content Placeholder 2">
            <a:extLst>
              <a:ext uri="{FF2B5EF4-FFF2-40B4-BE49-F238E27FC236}">
                <a16:creationId xmlns:a16="http://schemas.microsoft.com/office/drawing/2014/main" id="{6669C48D-6106-7CBA-2F59-4545F6FE5BC7}"/>
              </a:ext>
            </a:extLst>
          </p:cNvPr>
          <p:cNvSpPr>
            <a:spLocks noGrp="1"/>
          </p:cNvSpPr>
          <p:nvPr>
            <p:ph idx="1"/>
          </p:nvPr>
        </p:nvSpPr>
        <p:spPr>
          <a:xfrm>
            <a:off x="510186" y="1659144"/>
            <a:ext cx="8596668" cy="3880773"/>
          </a:xfrm>
        </p:spPr>
        <p:txBody>
          <a:bodyPr/>
          <a:lstStyle/>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Open the job portal homepage.</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Click on “Sign Up”.</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Enter required details (name, email, password).</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Click “Register” to create an account.</a:t>
            </a:r>
          </a:p>
          <a:p>
            <a:pPr algn="just">
              <a:lnSpc>
                <a:spcPct val="150000"/>
              </a:lnSpc>
              <a:buFont typeface="Courier New" panose="02070309020205020404" pitchFamily="49" charset="0"/>
              <a:buChar char="o"/>
            </a:pPr>
            <a:r>
              <a:rPr lang="en-US" dirty="0">
                <a:latin typeface="Roboto" panose="02000000000000000000" pitchFamily="2" charset="0"/>
                <a:ea typeface="Roboto" panose="02000000000000000000" pitchFamily="2" charset="0"/>
                <a:cs typeface="Roboto" panose="02000000000000000000" pitchFamily="2" charset="0"/>
              </a:rPr>
              <a:t>For login, enter email and password and click “Login”.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B8A028F9-C4E0-872B-760C-F13659A5377A}"/>
              </a:ext>
            </a:extLst>
          </p:cNvPr>
          <p:cNvSpPr txBox="1"/>
          <p:nvPr/>
        </p:nvSpPr>
        <p:spPr>
          <a:xfrm>
            <a:off x="7398774" y="978310"/>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46FB8BF1-71BD-061F-043E-2516BD117654}"/>
              </a:ext>
            </a:extLst>
          </p:cNvPr>
          <p:cNvSpPr txBox="1"/>
          <p:nvPr/>
        </p:nvSpPr>
        <p:spPr>
          <a:xfrm>
            <a:off x="6058581" y="391736"/>
            <a:ext cx="2560316" cy="646331"/>
          </a:xfrm>
          <a:prstGeom prst="rect">
            <a:avLst/>
          </a:prstGeom>
          <a:noFill/>
        </p:spPr>
        <p:txBody>
          <a:bodyPr wrap="none" rtlCol="0">
            <a:spAutoFit/>
          </a:bodyPr>
          <a:lstStyle/>
          <a:p>
            <a:pPr algn="l"/>
            <a:endParaRPr lang="en-IN" sz="1800" b="0" i="0" u="none" strike="noStrike" baseline="0" dirty="0">
              <a:solidFill>
                <a:srgbClr val="000000"/>
              </a:solidFill>
              <a:latin typeface="Times New Roman" panose="02020603050405020304" pitchFamily="18" charset="0"/>
            </a:endParaRPr>
          </a:p>
          <a:p>
            <a:r>
              <a:rPr lang="en-IN" sz="1800" i="0" u="none" strike="noStrike" baseline="0" dirty="0">
                <a:solidFill>
                  <a:schemeClr val="accent1"/>
                </a:solidFill>
                <a:latin typeface="Roboto" panose="02000000000000000000" pitchFamily="2" charset="0"/>
                <a:ea typeface="Roboto" panose="02000000000000000000" pitchFamily="2" charset="0"/>
                <a:cs typeface="Roboto" panose="02000000000000000000" pitchFamily="2" charset="0"/>
              </a:rPr>
              <a:t> Edit Candidate Profile </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01A8351C-F244-D518-542B-20E00E67124B}"/>
              </a:ext>
            </a:extLst>
          </p:cNvPr>
          <p:cNvSpPr txBox="1"/>
          <p:nvPr/>
        </p:nvSpPr>
        <p:spPr>
          <a:xfrm>
            <a:off x="6430297" y="1697397"/>
            <a:ext cx="4770858" cy="1708160"/>
          </a:xfrm>
          <a:prstGeom prst="rect">
            <a:avLst/>
          </a:prstGeom>
          <a:noFill/>
        </p:spPr>
        <p:txBody>
          <a:bodyPr wrap="none" rtlCol="0">
            <a:spAutoFit/>
          </a:bodyPr>
          <a:lstStyle/>
          <a:p>
            <a:pPr marL="285750" indent="-285750" algn="just">
              <a:lnSpc>
                <a:spcPct val="15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Go to “My Profile”. </a:t>
            </a:r>
          </a:p>
          <a:p>
            <a:pPr marL="285750" indent="-285750" algn="just">
              <a:lnSpc>
                <a:spcPct val="15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on “Edit”. </a:t>
            </a:r>
          </a:p>
          <a:p>
            <a:pPr marL="285750" indent="-285750" algn="just">
              <a:lnSpc>
                <a:spcPct val="150000"/>
              </a:lnSpc>
              <a:buClr>
                <a:schemeClr val="accent1"/>
              </a:buClr>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Update information like name , email etc. </a:t>
            </a:r>
          </a:p>
          <a:p>
            <a:pPr marL="285750" indent="-285750" algn="just">
              <a:lnSpc>
                <a:spcPct val="15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“Save”. </a:t>
            </a:r>
          </a:p>
        </p:txBody>
      </p:sp>
    </p:spTree>
    <p:extLst>
      <p:ext uri="{BB962C8B-B14F-4D97-AF65-F5344CB8AC3E}">
        <p14:creationId xmlns:p14="http://schemas.microsoft.com/office/powerpoint/2010/main" val="4108115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B9D7-066A-683B-6D01-A3A2900DE8E0}"/>
              </a:ext>
            </a:extLst>
          </p:cNvPr>
          <p:cNvSpPr>
            <a:spLocks noGrp="1"/>
          </p:cNvSpPr>
          <p:nvPr>
            <p:ph type="title"/>
          </p:nvPr>
        </p:nvSpPr>
        <p:spPr>
          <a:xfrm>
            <a:off x="403014" y="717869"/>
            <a:ext cx="8596668" cy="1320800"/>
          </a:xfrm>
        </p:spPr>
        <p:txBody>
          <a:bodyPr/>
          <a:lstStyle/>
          <a:p>
            <a:r>
              <a:rPr lang="en-IN" sz="1800" i="0" u="none" strike="noStrike" baseline="0" dirty="0">
                <a:latin typeface="Roboto" panose="02000000000000000000" pitchFamily="2" charset="0"/>
                <a:ea typeface="Roboto" panose="02000000000000000000" pitchFamily="2" charset="0"/>
                <a:cs typeface="Roboto" panose="02000000000000000000" pitchFamily="2" charset="0"/>
              </a:rPr>
              <a:t>Job Search and Filtering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D468AB15-EA68-BA3E-88A4-7530BE162374}"/>
              </a:ext>
            </a:extLst>
          </p:cNvPr>
          <p:cNvSpPr>
            <a:spLocks noGrp="1"/>
          </p:cNvSpPr>
          <p:nvPr>
            <p:ph idx="1"/>
          </p:nvPr>
        </p:nvSpPr>
        <p:spPr>
          <a:xfrm>
            <a:off x="403014" y="1402080"/>
            <a:ext cx="4128053" cy="3856962"/>
          </a:xfrm>
        </p:spPr>
        <p:txBody>
          <a:bodyPr/>
          <a:lstStyle/>
          <a:p>
            <a:pPr algn="l">
              <a:lnSpc>
                <a:spcPct val="150000"/>
              </a:lnSpc>
              <a:buFont typeface="Courier New" panose="02070309020205020404" pitchFamily="49" charset="0"/>
              <a:buChar char="o"/>
            </a:pPr>
            <a:endPar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Navigate to “Search Jobs”.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Enter keywords in search bar.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Apply filters like location or company.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View relevant job listings. </a:t>
            </a:r>
          </a:p>
          <a:p>
            <a:pPr>
              <a:lnSpc>
                <a:spcPct val="150000"/>
              </a:lnSpc>
            </a:pPr>
            <a:endPar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E338358B-B5E5-ABFD-169B-2DAE02D55A28}"/>
              </a:ext>
            </a:extLst>
          </p:cNvPr>
          <p:cNvSpPr txBox="1"/>
          <p:nvPr/>
        </p:nvSpPr>
        <p:spPr>
          <a:xfrm>
            <a:off x="5778308" y="744858"/>
            <a:ext cx="1611339" cy="369332"/>
          </a:xfrm>
          <a:prstGeom prst="rect">
            <a:avLst/>
          </a:prstGeom>
          <a:noFill/>
        </p:spPr>
        <p:txBody>
          <a:bodyPr wrap="none" rtlCol="0">
            <a:spAutoFit/>
          </a:bodyPr>
          <a:lstStyle/>
          <a:p>
            <a:r>
              <a:rPr lang="en-IN" sz="1800" i="0" u="none" strike="noStrike" baseline="0" dirty="0">
                <a:solidFill>
                  <a:schemeClr val="accent1"/>
                </a:solidFill>
                <a:latin typeface="Roboto" panose="02000000000000000000" pitchFamily="2" charset="0"/>
                <a:ea typeface="Roboto" panose="02000000000000000000" pitchFamily="2" charset="0"/>
                <a:cs typeface="Roboto" panose="02000000000000000000" pitchFamily="2" charset="0"/>
              </a:rPr>
              <a:t>Apply for Job </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30257803-90D5-6F00-3B79-4B4F9744228B}"/>
              </a:ext>
            </a:extLst>
          </p:cNvPr>
          <p:cNvSpPr txBox="1"/>
          <p:nvPr/>
        </p:nvSpPr>
        <p:spPr>
          <a:xfrm>
            <a:off x="5778308" y="1233126"/>
            <a:ext cx="4538422" cy="3335528"/>
          </a:xfrm>
          <a:prstGeom prst="rect">
            <a:avLst/>
          </a:prstGeom>
          <a:noFill/>
        </p:spPr>
        <p:txBody>
          <a:bodyPr wrap="none" rtlCol="0">
            <a:spAutoFit/>
          </a:bodyPr>
          <a:lstStyle/>
          <a:p>
            <a:pPr marL="285750" indent="-285750" algn="l">
              <a:lnSpc>
                <a:spcPct val="200000"/>
              </a:lnSpc>
              <a:buClr>
                <a:schemeClr val="accent1"/>
              </a:buClr>
              <a:buFont typeface="Courier New" panose="02070309020205020404" pitchFamily="49" charset="0"/>
              <a:buChar char="o"/>
            </a:pPr>
            <a:endPar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Browse job listings. </a:t>
            </a: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Select a job. </a:t>
            </a: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“Apply”. </a:t>
            </a:r>
          </a:p>
          <a:p>
            <a:pPr marL="285750" indent="-285750">
              <a:lnSpc>
                <a:spcPct val="200000"/>
              </a:lnSpc>
              <a:buClr>
                <a:schemeClr val="accent1"/>
              </a:buClr>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Upload resume if not already uploaded. </a:t>
            </a:r>
          </a:p>
          <a:p>
            <a:pPr marL="285750" indent="-285750">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Submit application. </a:t>
            </a:r>
          </a:p>
        </p:txBody>
      </p:sp>
    </p:spTree>
    <p:extLst>
      <p:ext uri="{BB962C8B-B14F-4D97-AF65-F5344CB8AC3E}">
        <p14:creationId xmlns:p14="http://schemas.microsoft.com/office/powerpoint/2010/main" val="3645664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ECD4-666F-5825-4408-2D45A46A6C8D}"/>
              </a:ext>
            </a:extLst>
          </p:cNvPr>
          <p:cNvSpPr>
            <a:spLocks noGrp="1"/>
          </p:cNvSpPr>
          <p:nvPr>
            <p:ph type="title"/>
          </p:nvPr>
        </p:nvSpPr>
        <p:spPr/>
        <p:txBody>
          <a:bodyPr/>
          <a:lstStyle/>
          <a:p>
            <a:r>
              <a:rPr lang="en-IN" sz="1800" i="0" u="none" strike="noStrike" baseline="0" dirty="0">
                <a:latin typeface="Roboto" panose="02000000000000000000" pitchFamily="2" charset="0"/>
                <a:ea typeface="Roboto" panose="02000000000000000000" pitchFamily="2" charset="0"/>
                <a:cs typeface="Roboto" panose="02000000000000000000" pitchFamily="2" charset="0"/>
              </a:rPr>
              <a:t>Recruiter Sign Up / Login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18710199-3FA8-1555-C8C4-66138FE5B5D0}"/>
              </a:ext>
            </a:extLst>
          </p:cNvPr>
          <p:cNvSpPr>
            <a:spLocks noGrp="1"/>
          </p:cNvSpPr>
          <p:nvPr>
            <p:ph idx="1"/>
          </p:nvPr>
        </p:nvSpPr>
        <p:spPr>
          <a:xfrm>
            <a:off x="514774" y="1270000"/>
            <a:ext cx="6272106" cy="3880773"/>
          </a:xfrm>
        </p:spPr>
        <p:txBody>
          <a:bodyPr/>
          <a:lstStyle/>
          <a:p>
            <a:pPr algn="l">
              <a:buFont typeface="Courier New" panose="02070309020205020404" pitchFamily="49" charset="0"/>
              <a:buChar char="o"/>
            </a:pPr>
            <a:endParaRPr lang="en-IN" sz="1800" b="0" i="0" u="none" strike="noStrike" baseline="0" dirty="0">
              <a:solidFill>
                <a:srgbClr val="000000"/>
              </a:solidFill>
              <a:latin typeface="Times New Roman" panose="02020603050405020304" pitchFamily="18" charset="0"/>
            </a:endParaRPr>
          </a:p>
          <a:p>
            <a:pPr>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Open the portal.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on “Recruiter Sign Up”.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Fill in details (name, email, company, password). </a:t>
            </a:r>
          </a:p>
          <a:p>
            <a:pPr>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“Register”. </a:t>
            </a:r>
          </a:p>
          <a:p>
            <a:pPr>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Use credentials to log in. </a:t>
            </a:r>
          </a:p>
          <a:p>
            <a:pPr>
              <a:buFont typeface="Courier New" panose="02070309020205020404" pitchFamily="49" charset="0"/>
              <a:buChar char="o"/>
            </a:pPr>
            <a:endParaRPr lang="en-IN" sz="1800" b="0" i="0" u="none" strike="noStrike" baseline="0" dirty="0">
              <a:solidFill>
                <a:srgbClr val="000000"/>
              </a:solidFill>
              <a:latin typeface="Times New Roman" panose="02020603050405020304" pitchFamily="18" charset="0"/>
            </a:endParaRPr>
          </a:p>
          <a:p>
            <a:pPr>
              <a:buFont typeface="Courier New" panose="02070309020205020404" pitchFamily="49" charset="0"/>
              <a:buChar char="o"/>
            </a:pPr>
            <a:endParaRPr lang="en-IN" dirty="0"/>
          </a:p>
        </p:txBody>
      </p:sp>
      <p:sp>
        <p:nvSpPr>
          <p:cNvPr id="4" name="TextBox 3">
            <a:extLst>
              <a:ext uri="{FF2B5EF4-FFF2-40B4-BE49-F238E27FC236}">
                <a16:creationId xmlns:a16="http://schemas.microsoft.com/office/drawing/2014/main" id="{7BE6DF25-627F-2210-0D54-F57F755D8187}"/>
              </a:ext>
            </a:extLst>
          </p:cNvPr>
          <p:cNvSpPr txBox="1"/>
          <p:nvPr/>
        </p:nvSpPr>
        <p:spPr>
          <a:xfrm>
            <a:off x="7244080" y="609600"/>
            <a:ext cx="1345240" cy="369332"/>
          </a:xfrm>
          <a:prstGeom prst="rect">
            <a:avLst/>
          </a:prstGeom>
          <a:noFill/>
        </p:spPr>
        <p:txBody>
          <a:bodyPr wrap="none" rtlCol="0">
            <a:spAutoFit/>
          </a:bodyPr>
          <a:lstStyle/>
          <a:p>
            <a:r>
              <a:rPr lang="en-IN" sz="1800" i="0" u="none" strike="noStrike" baseline="0" dirty="0">
                <a:solidFill>
                  <a:schemeClr val="accent1"/>
                </a:solidFill>
                <a:latin typeface="Roboto" panose="02000000000000000000" pitchFamily="2" charset="0"/>
                <a:ea typeface="Roboto" panose="02000000000000000000" pitchFamily="2" charset="0"/>
                <a:cs typeface="Roboto" panose="02000000000000000000" pitchFamily="2" charset="0"/>
              </a:rPr>
              <a:t>Post a Job </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6E2793B4-2658-1942-ED22-C0E33020A48B}"/>
              </a:ext>
            </a:extLst>
          </p:cNvPr>
          <p:cNvSpPr txBox="1"/>
          <p:nvPr/>
        </p:nvSpPr>
        <p:spPr>
          <a:xfrm>
            <a:off x="7099810" y="1536851"/>
            <a:ext cx="5581977" cy="1673535"/>
          </a:xfrm>
          <a:prstGeom prst="rect">
            <a:avLst/>
          </a:prstGeom>
          <a:noFill/>
        </p:spPr>
        <p:txBody>
          <a:bodyPr wrap="none" rtlCol="0">
            <a:spAutoFit/>
          </a:bodyPr>
          <a:lstStyle/>
          <a:p>
            <a:pPr marL="285750" indent="-285750" algn="just">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Navigate to “Post Job”. </a:t>
            </a:r>
          </a:p>
          <a:p>
            <a:pPr marL="285750" indent="-285750" algn="just">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Enter job title, description, location, requirements. </a:t>
            </a:r>
          </a:p>
          <a:p>
            <a:pPr marL="285750" indent="-285750" algn="just">
              <a:lnSpc>
                <a:spcPct val="200000"/>
              </a:lnSpc>
              <a:buClr>
                <a:schemeClr val="accent1"/>
              </a:buClr>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Click “Post Job”. </a:t>
            </a:r>
          </a:p>
        </p:txBody>
      </p:sp>
    </p:spTree>
    <p:extLst>
      <p:ext uri="{BB962C8B-B14F-4D97-AF65-F5344CB8AC3E}">
        <p14:creationId xmlns:p14="http://schemas.microsoft.com/office/powerpoint/2010/main" val="817155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EEF4-FBBB-A440-442B-014218190655}"/>
              </a:ext>
            </a:extLst>
          </p:cNvPr>
          <p:cNvSpPr>
            <a:spLocks noGrp="1"/>
          </p:cNvSpPr>
          <p:nvPr>
            <p:ph type="title"/>
          </p:nvPr>
        </p:nvSpPr>
        <p:spPr/>
        <p:txBody>
          <a:bodyPr/>
          <a:lstStyle/>
          <a:p>
            <a:r>
              <a:rPr lang="en-IN" sz="1800" i="0" u="none" strike="noStrike" baseline="0" dirty="0">
                <a:latin typeface="Roboto" panose="02000000000000000000" pitchFamily="2" charset="0"/>
                <a:ea typeface="Roboto" panose="02000000000000000000" pitchFamily="2" charset="0"/>
                <a:cs typeface="Roboto" panose="02000000000000000000" pitchFamily="2" charset="0"/>
              </a:rPr>
              <a:t>View Applied Candidates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D997D445-36EB-7E29-1A17-79E37D71BE7D}"/>
              </a:ext>
            </a:extLst>
          </p:cNvPr>
          <p:cNvSpPr>
            <a:spLocks noGrp="1"/>
          </p:cNvSpPr>
          <p:nvPr>
            <p:ph idx="1"/>
          </p:nvPr>
        </p:nvSpPr>
        <p:spPr>
          <a:xfrm>
            <a:off x="677334" y="1368109"/>
            <a:ext cx="8596668" cy="3880773"/>
          </a:xfrm>
        </p:spPr>
        <p:txBody>
          <a:bodyPr/>
          <a:lstStyle/>
          <a:p>
            <a:pPr algn="just">
              <a:lnSpc>
                <a:spcPct val="150000"/>
              </a:lnSpc>
              <a:buFont typeface="Courier New" panose="02070309020205020404" pitchFamily="49" charset="0"/>
              <a:buChar char="o"/>
            </a:pPr>
            <a:r>
              <a:rPr lang="en-IN"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Go to “My Jobs”. </a:t>
            </a:r>
          </a:p>
          <a:p>
            <a:pPr algn="just">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Select a posted job. </a:t>
            </a:r>
          </a:p>
          <a:p>
            <a:pPr algn="just">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View list of applied candidates. </a:t>
            </a:r>
          </a:p>
          <a:p>
            <a:pPr algn="just">
              <a:lnSpc>
                <a:spcPct val="150000"/>
              </a:lnSpc>
              <a:buFont typeface="Courier New" panose="02070309020205020404" pitchFamily="49" charset="0"/>
              <a:buChar char="o"/>
            </a:pPr>
            <a:r>
              <a:rPr lang="en-US" sz="1800" b="0" i="0" u="none" strike="noStrike" baseline="0" dirty="0">
                <a:solidFill>
                  <a:srgbClr val="000000"/>
                </a:solidFill>
                <a:latin typeface="Roboto" panose="02000000000000000000" pitchFamily="2" charset="0"/>
                <a:ea typeface="Roboto" panose="02000000000000000000" pitchFamily="2" charset="0"/>
                <a:cs typeface="Roboto" panose="02000000000000000000" pitchFamily="2" charset="0"/>
              </a:rPr>
              <a:t>Download or view resumes. </a:t>
            </a:r>
          </a:p>
          <a:p>
            <a:endParaRPr lang="en-IN" sz="1800" b="0" i="0" u="none" strike="noStrike" baseline="0" dirty="0">
              <a:solidFill>
                <a:srgbClr val="000000"/>
              </a:solidFill>
              <a:latin typeface="Times New Roman" panose="02020603050405020304" pitchFamily="18" charset="0"/>
            </a:endParaRPr>
          </a:p>
          <a:p>
            <a:endParaRPr lang="en-IN" sz="1800" b="0" i="0" u="none" strike="noStrike" baseline="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2887210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8959-3F5D-9E12-BADA-288211836D5F}"/>
              </a:ext>
            </a:extLst>
          </p:cNvPr>
          <p:cNvSpPr>
            <a:spLocks noGrp="1"/>
          </p:cNvSpPr>
          <p:nvPr>
            <p:ph type="title"/>
          </p:nvPr>
        </p:nvSpPr>
        <p:spPr>
          <a:xfrm>
            <a:off x="2435014" y="2600960"/>
            <a:ext cx="8596668" cy="1320800"/>
          </a:xfrm>
        </p:spPr>
        <p:txBody>
          <a:bodyPr>
            <a:normAutofit fontScale="90000"/>
          </a:bodyPr>
          <a:lstStyle/>
          <a:p>
            <a:r>
              <a:rPr lang="en-US" sz="8800" dirty="0"/>
              <a:t>THANK YOU</a:t>
            </a:r>
            <a:endParaRPr lang="en-IN" sz="8800" dirty="0"/>
          </a:p>
        </p:txBody>
      </p:sp>
    </p:spTree>
    <p:extLst>
      <p:ext uri="{BB962C8B-B14F-4D97-AF65-F5344CB8AC3E}">
        <p14:creationId xmlns:p14="http://schemas.microsoft.com/office/powerpoint/2010/main" val="284781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156</TotalTime>
  <Words>1131</Words>
  <Application>Microsoft Office PowerPoint</Application>
  <PresentationFormat>Widescreen</PresentationFormat>
  <Paragraphs>130</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Courier New</vt:lpstr>
      <vt:lpstr>DM Sans</vt:lpstr>
      <vt:lpstr>Lato</vt:lpstr>
      <vt:lpstr>Roboto</vt:lpstr>
      <vt:lpstr>Times New Roman</vt:lpstr>
      <vt:lpstr>Trebuchet MS</vt:lpstr>
      <vt:lpstr>Wingdings 3</vt:lpstr>
      <vt:lpstr>Facet</vt:lpstr>
      <vt:lpstr>Welcome to Pranaksh Technologies</vt:lpstr>
      <vt:lpstr>INDEX</vt:lpstr>
      <vt:lpstr>INTRODUCTION</vt:lpstr>
      <vt:lpstr>Overview OF The Organization</vt:lpstr>
      <vt:lpstr>Vision </vt:lpstr>
      <vt:lpstr>Mission</vt:lpstr>
      <vt:lpstr>Organization Structure</vt:lpstr>
      <vt:lpstr>Roles and Responsibilities</vt:lpstr>
      <vt:lpstr>ON JOB TRAINING (OJT-1)</vt:lpstr>
      <vt:lpstr>Online Blood Bank Management</vt:lpstr>
      <vt:lpstr>Problem Statement</vt:lpstr>
      <vt:lpstr>Future Scope</vt:lpstr>
      <vt:lpstr>USE CASE-1</vt:lpstr>
      <vt:lpstr>User Login                                                                                  </vt:lpstr>
      <vt:lpstr>Search for Donors</vt:lpstr>
      <vt:lpstr>ON JOB TRAINING (OJT-2)</vt:lpstr>
      <vt:lpstr>JOB PORTAL</vt:lpstr>
      <vt:lpstr>Problem Statement</vt:lpstr>
      <vt:lpstr>Future Scope</vt:lpstr>
      <vt:lpstr>USE CASE-2</vt:lpstr>
      <vt:lpstr>Candidate Sign Up / Login</vt:lpstr>
      <vt:lpstr>Job Search and Filtering </vt:lpstr>
      <vt:lpstr>Recruiter Sign Up / Login </vt:lpstr>
      <vt:lpstr>View Applied Candidates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Mane</dc:creator>
  <cp:lastModifiedBy>Aditya Mane</cp:lastModifiedBy>
  <cp:revision>93</cp:revision>
  <dcterms:created xsi:type="dcterms:W3CDTF">2025-04-25T16:00:25Z</dcterms:created>
  <dcterms:modified xsi:type="dcterms:W3CDTF">2025-04-26T06:34:19Z</dcterms:modified>
</cp:coreProperties>
</file>